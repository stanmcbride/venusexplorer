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68" r:id="rId3"/>
    <p:sldId id="257" r:id="rId4"/>
    <p:sldId id="267" r:id="rId5"/>
    <p:sldId id="256" r:id="rId6"/>
    <p:sldId id="258" r:id="rId7"/>
    <p:sldId id="259" r:id="rId8"/>
    <p:sldId id="260" r:id="rId9"/>
    <p:sldId id="264" r:id="rId10"/>
    <p:sldId id="261" r:id="rId11"/>
    <p:sldId id="263" r:id="rId12"/>
    <p:sldId id="265" r:id="rId13"/>
  </p:sldIdLst>
  <p:sldSz cx="9144000" cy="6858000" type="letter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4B53"/>
    <a:srgbClr val="35CDE0"/>
    <a:srgbClr val="061922"/>
    <a:srgbClr val="91A4A1"/>
    <a:srgbClr val="4F6660"/>
    <a:srgbClr val="C06126"/>
    <a:srgbClr val="384590"/>
    <a:srgbClr val="E8AD88"/>
    <a:srgbClr val="A9C7B7"/>
    <a:srgbClr val="EDBF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51C30D-6B8D-4538-A4C4-18A2F301B113}" v="2" dt="2026-09-07T21:37:21.5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9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n McBride" userId="50b14bf10d31212c" providerId="LiveId" clId="{5F408C4D-0701-44BF-98E7-8AA9942ABF04}"/>
    <pc:docChg chg="modSld">
      <pc:chgData name="Stan McBride" userId="50b14bf10d31212c" providerId="LiveId" clId="{5F408C4D-0701-44BF-98E7-8AA9942ABF04}" dt="2026-09-07T21:37:21.508" v="2" actId="1076"/>
      <pc:docMkLst>
        <pc:docMk/>
      </pc:docMkLst>
      <pc:sldChg chg="delSp">
        <pc:chgData name="Stan McBride" userId="50b14bf10d31212c" providerId="LiveId" clId="{5F408C4D-0701-44BF-98E7-8AA9942ABF04}" dt="2026-09-07T21:37:16.966" v="0" actId="21"/>
        <pc:sldMkLst>
          <pc:docMk/>
          <pc:sldMk cId="2921451802" sldId="265"/>
        </pc:sldMkLst>
        <pc:picChg chg="del">
          <ac:chgData name="Stan McBride" userId="50b14bf10d31212c" providerId="LiveId" clId="{5F408C4D-0701-44BF-98E7-8AA9942ABF04}" dt="2026-09-07T21:37:16.966" v="0" actId="21"/>
          <ac:picMkLst>
            <pc:docMk/>
            <pc:sldMk cId="2921451802" sldId="265"/>
            <ac:picMk id="32" creationId="{266D7D0D-18AB-4979-44D9-B05AF7EDF88D}"/>
          </ac:picMkLst>
        </pc:picChg>
      </pc:sldChg>
      <pc:sldChg chg="addSp modSp mod">
        <pc:chgData name="Stan McBride" userId="50b14bf10d31212c" providerId="LiveId" clId="{5F408C4D-0701-44BF-98E7-8AA9942ABF04}" dt="2026-09-07T21:37:21.508" v="2" actId="1076"/>
        <pc:sldMkLst>
          <pc:docMk/>
          <pc:sldMk cId="2783868733" sldId="267"/>
        </pc:sldMkLst>
        <pc:picChg chg="add mod">
          <ac:chgData name="Stan McBride" userId="50b14bf10d31212c" providerId="LiveId" clId="{5F408C4D-0701-44BF-98E7-8AA9942ABF04}" dt="2026-09-07T21:37:21.508" v="2" actId="1076"/>
          <ac:picMkLst>
            <pc:docMk/>
            <pc:sldMk cId="2783868733" sldId="267"/>
            <ac:picMk id="3" creationId="{63A2F106-B06F-2725-17A3-A6FEBF8AF0F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48F8-A5AC-457A-8CBD-3BD861B5533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039D2-E740-446C-95FC-24CC1AFDC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72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48F8-A5AC-457A-8CBD-3BD861B5533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039D2-E740-446C-95FC-24CC1AFDC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06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48F8-A5AC-457A-8CBD-3BD861B5533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039D2-E740-446C-95FC-24CC1AFDC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041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48F8-A5AC-457A-8CBD-3BD861B5533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039D2-E740-446C-95FC-24CC1AFDC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802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48F8-A5AC-457A-8CBD-3BD861B5533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039D2-E740-446C-95FC-24CC1AFDC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0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48F8-A5AC-457A-8CBD-3BD861B5533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039D2-E740-446C-95FC-24CC1AFDC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001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48F8-A5AC-457A-8CBD-3BD861B5533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039D2-E740-446C-95FC-24CC1AFDC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46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48F8-A5AC-457A-8CBD-3BD861B5533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039D2-E740-446C-95FC-24CC1AFDC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31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48F8-A5AC-457A-8CBD-3BD861B5533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039D2-E740-446C-95FC-24CC1AFDC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510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48F8-A5AC-457A-8CBD-3BD861B5533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039D2-E740-446C-95FC-24CC1AFDC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799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E48F8-A5AC-457A-8CBD-3BD861B5533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039D2-E740-446C-95FC-24CC1AFDC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963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CE48F8-A5AC-457A-8CBD-3BD861B55336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039D2-E740-446C-95FC-24CC1AFDC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60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EFB48B7-3ABA-6407-E421-858F2BEEF3F0}"/>
              </a:ext>
            </a:extLst>
          </p:cNvPr>
          <p:cNvGrpSpPr/>
          <p:nvPr/>
        </p:nvGrpSpPr>
        <p:grpSpPr>
          <a:xfrm>
            <a:off x="164976" y="126993"/>
            <a:ext cx="2361284" cy="3200392"/>
            <a:chOff x="164976" y="126993"/>
            <a:chExt cx="2361284" cy="320039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BCB9651-A331-FCAF-A93A-0D738C1E5B62}"/>
                </a:ext>
              </a:extLst>
            </p:cNvPr>
            <p:cNvSpPr/>
            <p:nvPr/>
          </p:nvSpPr>
          <p:spPr>
            <a:xfrm>
              <a:off x="876023" y="126993"/>
              <a:ext cx="1647086" cy="1600200"/>
            </a:xfrm>
            <a:prstGeom prst="rect">
              <a:avLst/>
            </a:prstGeom>
            <a:gradFill>
              <a:gsLst>
                <a:gs pos="5000">
                  <a:schemeClr val="tx1"/>
                </a:gs>
                <a:gs pos="60000">
                  <a:srgbClr val="2F473A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Move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Crawler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Space</a:t>
              </a:r>
            </a:p>
          </p:txBody>
        </p:sp>
        <p:pic>
          <p:nvPicPr>
            <p:cNvPr id="3" name="Picture 2" descr="A cartoon of a spiral cone&#10;&#10;AI-generated content may be incorrect.">
              <a:extLst>
                <a:ext uri="{FF2B5EF4-FFF2-40B4-BE49-F238E27FC236}">
                  <a16:creationId xmlns:a16="http://schemas.microsoft.com/office/drawing/2014/main" id="{960E89B7-BAA6-374F-91C7-526BBB72B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25" r="29781" b="2"/>
            <a:stretch/>
          </p:blipFill>
          <p:spPr>
            <a:xfrm>
              <a:off x="164976" y="126996"/>
              <a:ext cx="787210" cy="16002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953BC3D-FD09-D2E1-6788-9A23C0320F11}"/>
                </a:ext>
              </a:extLst>
            </p:cNvPr>
            <p:cNvSpPr/>
            <p:nvPr/>
          </p:nvSpPr>
          <p:spPr>
            <a:xfrm>
              <a:off x="879174" y="1727180"/>
              <a:ext cx="1647086" cy="1600200"/>
            </a:xfrm>
            <a:prstGeom prst="rect">
              <a:avLst/>
            </a:prstGeom>
            <a:gradFill>
              <a:gsLst>
                <a:gs pos="5000">
                  <a:schemeClr val="tx1"/>
                </a:gs>
                <a:gs pos="60000">
                  <a:srgbClr val="384590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Explore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with Drone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6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Spaces</a:t>
              </a:r>
            </a:p>
          </p:txBody>
        </p:sp>
        <p:pic>
          <p:nvPicPr>
            <p:cNvPr id="5" name="Picture 4" descr="A circular object with a light shining on it&#10;&#10;AI-generated content may be incorrect.">
              <a:extLst>
                <a:ext uri="{FF2B5EF4-FFF2-40B4-BE49-F238E27FC236}">
                  <a16:creationId xmlns:a16="http://schemas.microsoft.com/office/drawing/2014/main" id="{9ABE901D-675C-F1E2-DDA6-8982DB3A5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277" r="21861" b="2"/>
            <a:stretch/>
          </p:blipFill>
          <p:spPr>
            <a:xfrm rot="10800000">
              <a:off x="164976" y="1727185"/>
              <a:ext cx="797918" cy="160020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25C35E8-C170-95B3-8F1A-01D3610D6E5B}"/>
              </a:ext>
            </a:extLst>
          </p:cNvPr>
          <p:cNvGrpSpPr/>
          <p:nvPr/>
        </p:nvGrpSpPr>
        <p:grpSpPr>
          <a:xfrm>
            <a:off x="2740536" y="126984"/>
            <a:ext cx="2361284" cy="3200392"/>
            <a:chOff x="164976" y="126993"/>
            <a:chExt cx="2361284" cy="320039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CC86962-A67A-E6AB-23C7-94D162321DBC}"/>
                </a:ext>
              </a:extLst>
            </p:cNvPr>
            <p:cNvSpPr/>
            <p:nvPr/>
          </p:nvSpPr>
          <p:spPr>
            <a:xfrm>
              <a:off x="876023" y="126993"/>
              <a:ext cx="1647086" cy="1600200"/>
            </a:xfrm>
            <a:prstGeom prst="rect">
              <a:avLst/>
            </a:prstGeom>
            <a:gradFill>
              <a:gsLst>
                <a:gs pos="5000">
                  <a:schemeClr val="tx1"/>
                </a:gs>
                <a:gs pos="60000">
                  <a:srgbClr val="2F473A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Move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Crawler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Space</a:t>
              </a:r>
            </a:p>
          </p:txBody>
        </p:sp>
        <p:pic>
          <p:nvPicPr>
            <p:cNvPr id="9" name="Picture 8" descr="A cartoon of a spiral cone&#10;&#10;AI-generated content may be incorrect.">
              <a:extLst>
                <a:ext uri="{FF2B5EF4-FFF2-40B4-BE49-F238E27FC236}">
                  <a16:creationId xmlns:a16="http://schemas.microsoft.com/office/drawing/2014/main" id="{853B598E-DFB3-E52B-9296-2A78769C0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25" r="29781" b="2"/>
            <a:stretch/>
          </p:blipFill>
          <p:spPr>
            <a:xfrm>
              <a:off x="164976" y="126996"/>
              <a:ext cx="787210" cy="16002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7269789-E3D5-0B28-814F-FCE0B290D2AF}"/>
                </a:ext>
              </a:extLst>
            </p:cNvPr>
            <p:cNvSpPr/>
            <p:nvPr/>
          </p:nvSpPr>
          <p:spPr>
            <a:xfrm>
              <a:off x="879174" y="1727180"/>
              <a:ext cx="1647086" cy="1600200"/>
            </a:xfrm>
            <a:prstGeom prst="rect">
              <a:avLst/>
            </a:prstGeom>
            <a:gradFill>
              <a:gsLst>
                <a:gs pos="5000">
                  <a:schemeClr val="tx1"/>
                </a:gs>
                <a:gs pos="60000">
                  <a:srgbClr val="384590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Explore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with Drone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Spaces</a:t>
              </a:r>
            </a:p>
          </p:txBody>
        </p:sp>
        <p:pic>
          <p:nvPicPr>
            <p:cNvPr id="11" name="Picture 10" descr="A circular object with a light shining on it&#10;&#10;AI-generated content may be incorrect.">
              <a:extLst>
                <a:ext uri="{FF2B5EF4-FFF2-40B4-BE49-F238E27FC236}">
                  <a16:creationId xmlns:a16="http://schemas.microsoft.com/office/drawing/2014/main" id="{79D7F0AB-411A-C60F-CE48-788E7547A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277" r="21861" b="2"/>
            <a:stretch/>
          </p:blipFill>
          <p:spPr>
            <a:xfrm rot="10800000">
              <a:off x="164976" y="1727185"/>
              <a:ext cx="797918" cy="16002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6E30E66-38C7-5AA1-2905-9299C1BC083D}"/>
              </a:ext>
            </a:extLst>
          </p:cNvPr>
          <p:cNvGrpSpPr/>
          <p:nvPr/>
        </p:nvGrpSpPr>
        <p:grpSpPr>
          <a:xfrm>
            <a:off x="5316096" y="126975"/>
            <a:ext cx="2361284" cy="3200392"/>
            <a:chOff x="164976" y="126993"/>
            <a:chExt cx="2361284" cy="320039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4AF52BC-6820-5A0E-B1F2-9CB3B281D452}"/>
                </a:ext>
              </a:extLst>
            </p:cNvPr>
            <p:cNvSpPr/>
            <p:nvPr/>
          </p:nvSpPr>
          <p:spPr>
            <a:xfrm>
              <a:off x="876023" y="126993"/>
              <a:ext cx="1647086" cy="1600200"/>
            </a:xfrm>
            <a:prstGeom prst="rect">
              <a:avLst/>
            </a:prstGeom>
            <a:gradFill>
              <a:gsLst>
                <a:gs pos="5000">
                  <a:schemeClr val="tx1"/>
                </a:gs>
                <a:gs pos="60000">
                  <a:srgbClr val="2F473A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Move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Crawler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Space</a:t>
              </a:r>
            </a:p>
          </p:txBody>
        </p:sp>
        <p:pic>
          <p:nvPicPr>
            <p:cNvPr id="14" name="Picture 13" descr="A cartoon of a spiral cone&#10;&#10;AI-generated content may be incorrect.">
              <a:extLst>
                <a:ext uri="{FF2B5EF4-FFF2-40B4-BE49-F238E27FC236}">
                  <a16:creationId xmlns:a16="http://schemas.microsoft.com/office/drawing/2014/main" id="{4F687E12-C234-503B-467F-58237494D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25" r="29781" b="2"/>
            <a:stretch/>
          </p:blipFill>
          <p:spPr>
            <a:xfrm>
              <a:off x="164976" y="126996"/>
              <a:ext cx="787210" cy="1600200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2AC7B57-BDA3-3A5C-AE67-97265D7D516E}"/>
                </a:ext>
              </a:extLst>
            </p:cNvPr>
            <p:cNvSpPr/>
            <p:nvPr/>
          </p:nvSpPr>
          <p:spPr>
            <a:xfrm>
              <a:off x="879174" y="1727180"/>
              <a:ext cx="1647086" cy="1600200"/>
            </a:xfrm>
            <a:prstGeom prst="rect">
              <a:avLst/>
            </a:prstGeom>
            <a:gradFill>
              <a:gsLst>
                <a:gs pos="5000">
                  <a:schemeClr val="tx1"/>
                </a:gs>
                <a:gs pos="60000">
                  <a:srgbClr val="384590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Explore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with Drone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Spaces</a:t>
              </a:r>
            </a:p>
          </p:txBody>
        </p:sp>
        <p:pic>
          <p:nvPicPr>
            <p:cNvPr id="16" name="Picture 15" descr="A circular object with a light shining on it&#10;&#10;AI-generated content may be incorrect.">
              <a:extLst>
                <a:ext uri="{FF2B5EF4-FFF2-40B4-BE49-F238E27FC236}">
                  <a16:creationId xmlns:a16="http://schemas.microsoft.com/office/drawing/2014/main" id="{801F0E85-1AD2-1143-0757-E48CB5254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277" r="21861" b="2"/>
            <a:stretch/>
          </p:blipFill>
          <p:spPr>
            <a:xfrm rot="10800000">
              <a:off x="164976" y="1727185"/>
              <a:ext cx="797918" cy="16002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C92DACF-9679-F164-6D4E-BB1673143404}"/>
              </a:ext>
            </a:extLst>
          </p:cNvPr>
          <p:cNvGrpSpPr/>
          <p:nvPr/>
        </p:nvGrpSpPr>
        <p:grpSpPr>
          <a:xfrm>
            <a:off x="164976" y="3530599"/>
            <a:ext cx="2362539" cy="3200405"/>
            <a:chOff x="3563496" y="228593"/>
            <a:chExt cx="2362539" cy="320040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32E6BB9-A0EA-B7D4-4BCD-2571C9FDBE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9075" y="228598"/>
              <a:ext cx="2346960" cy="3200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CF987D5-89BF-F620-2CC4-DBB9495E7D30}"/>
                </a:ext>
              </a:extLst>
            </p:cNvPr>
            <p:cNvSpPr/>
            <p:nvPr/>
          </p:nvSpPr>
          <p:spPr>
            <a:xfrm>
              <a:off x="4274543" y="228593"/>
              <a:ext cx="1651492" cy="1600200"/>
            </a:xfrm>
            <a:prstGeom prst="rect">
              <a:avLst/>
            </a:prstGeom>
            <a:gradFill flip="none" rotWithShape="1">
              <a:gsLst>
                <a:gs pos="5000">
                  <a:srgbClr val="061922"/>
                </a:gs>
                <a:gs pos="60000">
                  <a:srgbClr val="C06126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Build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2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Bridge Sections</a:t>
              </a:r>
            </a:p>
          </p:txBody>
        </p:sp>
        <p:pic>
          <p:nvPicPr>
            <p:cNvPr id="24" name="Picture 23" descr="A close up of a welding machine&#10;&#10;AI-generated content may be incorrect.">
              <a:extLst>
                <a:ext uri="{FF2B5EF4-FFF2-40B4-BE49-F238E27FC236}">
                  <a16:creationId xmlns:a16="http://schemas.microsoft.com/office/drawing/2014/main" id="{54292CF0-D819-AB83-E273-C91818988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878" r="21652" b="2"/>
            <a:stretch/>
          </p:blipFill>
          <p:spPr>
            <a:xfrm>
              <a:off x="3563496" y="228600"/>
              <a:ext cx="791618" cy="1600200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32084A4-F85E-D13D-7BF0-DDE8D2A9CDE2}"/>
                </a:ext>
              </a:extLst>
            </p:cNvPr>
            <p:cNvSpPr/>
            <p:nvPr/>
          </p:nvSpPr>
          <p:spPr>
            <a:xfrm>
              <a:off x="4274543" y="1828793"/>
              <a:ext cx="1647086" cy="1600200"/>
            </a:xfrm>
            <a:prstGeom prst="rect">
              <a:avLst/>
            </a:prstGeom>
            <a:gradFill>
              <a:gsLst>
                <a:gs pos="5000">
                  <a:schemeClr val="tx1"/>
                </a:gs>
                <a:gs pos="60000">
                  <a:srgbClr val="2F473A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Move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Crawler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Space</a:t>
              </a:r>
            </a:p>
          </p:txBody>
        </p:sp>
        <p:pic>
          <p:nvPicPr>
            <p:cNvPr id="26" name="Picture 25" descr="A cartoon of a spiral cone&#10;&#10;AI-generated content may be incorrect.">
              <a:extLst>
                <a:ext uri="{FF2B5EF4-FFF2-40B4-BE49-F238E27FC236}">
                  <a16:creationId xmlns:a16="http://schemas.microsoft.com/office/drawing/2014/main" id="{8F273647-70B9-95F5-A5F0-5D009FCE5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25" r="29781" b="2"/>
            <a:stretch/>
          </p:blipFill>
          <p:spPr>
            <a:xfrm>
              <a:off x="3563496" y="1828796"/>
              <a:ext cx="787210" cy="160020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ABB42F5-3991-E88F-8B2D-12137183D8D0}"/>
              </a:ext>
            </a:extLst>
          </p:cNvPr>
          <p:cNvGrpSpPr/>
          <p:nvPr/>
        </p:nvGrpSpPr>
        <p:grpSpPr>
          <a:xfrm>
            <a:off x="2736130" y="3530594"/>
            <a:ext cx="2362539" cy="3200405"/>
            <a:chOff x="3563496" y="228593"/>
            <a:chExt cx="2362539" cy="3200405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D241ACAD-563E-301C-9834-874C68550F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9075" y="228598"/>
              <a:ext cx="2346960" cy="3200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226B46C-1127-B24A-507A-B8D2D5273F8B}"/>
                </a:ext>
              </a:extLst>
            </p:cNvPr>
            <p:cNvSpPr/>
            <p:nvPr/>
          </p:nvSpPr>
          <p:spPr>
            <a:xfrm>
              <a:off x="4274543" y="228593"/>
              <a:ext cx="1651492" cy="1600200"/>
            </a:xfrm>
            <a:prstGeom prst="rect">
              <a:avLst/>
            </a:prstGeom>
            <a:gradFill flip="none" rotWithShape="1">
              <a:gsLst>
                <a:gs pos="5000">
                  <a:srgbClr val="061922"/>
                </a:gs>
                <a:gs pos="60000">
                  <a:srgbClr val="C06126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Build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1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Bridge Sections</a:t>
              </a:r>
            </a:p>
          </p:txBody>
        </p:sp>
        <p:pic>
          <p:nvPicPr>
            <p:cNvPr id="31" name="Picture 30" descr="A close up of a welding machine&#10;&#10;AI-generated content may be incorrect.">
              <a:extLst>
                <a:ext uri="{FF2B5EF4-FFF2-40B4-BE49-F238E27FC236}">
                  <a16:creationId xmlns:a16="http://schemas.microsoft.com/office/drawing/2014/main" id="{6290A058-59B3-332E-F529-DE292D48F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878" r="21652" b="2"/>
            <a:stretch/>
          </p:blipFill>
          <p:spPr>
            <a:xfrm>
              <a:off x="3563496" y="228600"/>
              <a:ext cx="791618" cy="160020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99BF588-4FF8-3C3B-CF81-9561D43E2D85}"/>
                </a:ext>
              </a:extLst>
            </p:cNvPr>
            <p:cNvSpPr/>
            <p:nvPr/>
          </p:nvSpPr>
          <p:spPr>
            <a:xfrm>
              <a:off x="4274543" y="1828793"/>
              <a:ext cx="1647086" cy="1600200"/>
            </a:xfrm>
            <a:prstGeom prst="rect">
              <a:avLst/>
            </a:prstGeom>
            <a:gradFill>
              <a:gsLst>
                <a:gs pos="5000">
                  <a:schemeClr val="tx1"/>
                </a:gs>
                <a:gs pos="60000">
                  <a:srgbClr val="2F473A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Move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Crawler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Spaces</a:t>
              </a:r>
            </a:p>
            <a:p>
              <a:pPr algn="ctr"/>
              <a:r>
                <a:rPr lang="en-US" sz="1400" i="1" dirty="0">
                  <a:solidFill>
                    <a:schemeClr val="bg1"/>
                  </a:solidFill>
                </a:rPr>
                <a:t>may mine at each location</a:t>
              </a:r>
            </a:p>
          </p:txBody>
        </p:sp>
        <p:pic>
          <p:nvPicPr>
            <p:cNvPr id="33" name="Picture 32" descr="A cartoon of a spiral cone&#10;&#10;AI-generated content may be incorrect.">
              <a:extLst>
                <a:ext uri="{FF2B5EF4-FFF2-40B4-BE49-F238E27FC236}">
                  <a16:creationId xmlns:a16="http://schemas.microsoft.com/office/drawing/2014/main" id="{C52F0EF7-163C-8D28-5A51-99A9C5D0D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25" r="29781" b="2"/>
            <a:stretch/>
          </p:blipFill>
          <p:spPr>
            <a:xfrm>
              <a:off x="3563496" y="1828796"/>
              <a:ext cx="787210" cy="1600200"/>
            </a:xfrm>
            <a:prstGeom prst="rect">
              <a:avLst/>
            </a:prstGeom>
          </p:spPr>
        </p:pic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179379D7-A0F3-DEAD-B5F9-5683F708F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269" y="3530594"/>
            <a:ext cx="234696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ED9E22E0-FF1C-F9ED-7D9B-0CBA6FA7B044}"/>
              </a:ext>
            </a:extLst>
          </p:cNvPr>
          <p:cNvSpPr/>
          <p:nvPr/>
        </p:nvSpPr>
        <p:spPr>
          <a:xfrm>
            <a:off x="6022737" y="3530589"/>
            <a:ext cx="1651492" cy="1600200"/>
          </a:xfrm>
          <a:prstGeom prst="rect">
            <a:avLst/>
          </a:prstGeom>
          <a:gradFill flip="none" rotWithShape="1">
            <a:gsLst>
              <a:gs pos="5000">
                <a:srgbClr val="061922"/>
              </a:gs>
              <a:gs pos="60000">
                <a:srgbClr val="C0612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Build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1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Bridge Sections</a:t>
            </a:r>
          </a:p>
        </p:txBody>
      </p:sp>
      <p:pic>
        <p:nvPicPr>
          <p:cNvPr id="37" name="Picture 36" descr="A close up of a welding machine&#10;&#10;AI-generated content may be incorrect.">
            <a:extLst>
              <a:ext uri="{FF2B5EF4-FFF2-40B4-BE49-F238E27FC236}">
                <a16:creationId xmlns:a16="http://schemas.microsoft.com/office/drawing/2014/main" id="{64DD1039-490B-C211-27E9-02CDAA1FDE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78" r="21652" b="2"/>
          <a:stretch/>
        </p:blipFill>
        <p:spPr>
          <a:xfrm>
            <a:off x="5311690" y="3530596"/>
            <a:ext cx="791618" cy="160020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CB5012AA-2892-BD76-9686-DD91120E3BDE}"/>
              </a:ext>
            </a:extLst>
          </p:cNvPr>
          <p:cNvSpPr/>
          <p:nvPr/>
        </p:nvSpPr>
        <p:spPr>
          <a:xfrm>
            <a:off x="6019586" y="5130775"/>
            <a:ext cx="1647086" cy="1600200"/>
          </a:xfrm>
          <a:prstGeom prst="rect">
            <a:avLst/>
          </a:prstGeom>
          <a:gradFill>
            <a:gsLst>
              <a:gs pos="5000">
                <a:schemeClr val="tx1"/>
              </a:gs>
              <a:gs pos="60000">
                <a:srgbClr val="384590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Explore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with Drone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Spaces</a:t>
            </a:r>
          </a:p>
        </p:txBody>
      </p:sp>
      <p:pic>
        <p:nvPicPr>
          <p:cNvPr id="41" name="Picture 40" descr="A circular object with a light shining on it&#10;&#10;AI-generated content may be incorrect.">
            <a:extLst>
              <a:ext uri="{FF2B5EF4-FFF2-40B4-BE49-F238E27FC236}">
                <a16:creationId xmlns:a16="http://schemas.microsoft.com/office/drawing/2014/main" id="{BBDD6F95-B86A-697B-658A-57FBBD464B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77" r="21861" b="2"/>
          <a:stretch/>
        </p:blipFill>
        <p:spPr>
          <a:xfrm rot="10800000">
            <a:off x="5305388" y="5130780"/>
            <a:ext cx="797918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945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8A6BA-216D-2AC8-238D-35C3EE0E9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A986912-57AF-50E4-EF17-5193DD217A7C}"/>
              </a:ext>
            </a:extLst>
          </p:cNvPr>
          <p:cNvGrpSpPr/>
          <p:nvPr/>
        </p:nvGrpSpPr>
        <p:grpSpPr>
          <a:xfrm>
            <a:off x="165603" y="126943"/>
            <a:ext cx="2361284" cy="3200392"/>
            <a:chOff x="164976" y="126993"/>
            <a:chExt cx="2361284" cy="320039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51C2CFF-9634-2F41-FCFB-620395848D4D}"/>
                </a:ext>
              </a:extLst>
            </p:cNvPr>
            <p:cNvSpPr/>
            <p:nvPr/>
          </p:nvSpPr>
          <p:spPr>
            <a:xfrm>
              <a:off x="876023" y="126993"/>
              <a:ext cx="1647086" cy="1600200"/>
            </a:xfrm>
            <a:prstGeom prst="rect">
              <a:avLst/>
            </a:prstGeom>
            <a:gradFill>
              <a:gsLst>
                <a:gs pos="5000">
                  <a:schemeClr val="tx1"/>
                </a:gs>
                <a:gs pos="60000">
                  <a:srgbClr val="2F473A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Move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Crawler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Space</a:t>
              </a:r>
            </a:p>
          </p:txBody>
        </p:sp>
        <p:pic>
          <p:nvPicPr>
            <p:cNvPr id="3" name="Picture 2" descr="A cartoon of a spiral cone&#10;&#10;AI-generated content may be incorrect.">
              <a:extLst>
                <a:ext uri="{FF2B5EF4-FFF2-40B4-BE49-F238E27FC236}">
                  <a16:creationId xmlns:a16="http://schemas.microsoft.com/office/drawing/2014/main" id="{214426EE-E0CF-A5DC-8695-7B806F571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25" r="29781" b="2"/>
            <a:stretch/>
          </p:blipFill>
          <p:spPr>
            <a:xfrm>
              <a:off x="164976" y="126996"/>
              <a:ext cx="787210" cy="16002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780F565-43D6-9D85-A2C9-94AAB05D06F2}"/>
                </a:ext>
              </a:extLst>
            </p:cNvPr>
            <p:cNvSpPr/>
            <p:nvPr/>
          </p:nvSpPr>
          <p:spPr>
            <a:xfrm>
              <a:off x="879174" y="1727180"/>
              <a:ext cx="1647086" cy="1600200"/>
            </a:xfrm>
            <a:prstGeom prst="rect">
              <a:avLst/>
            </a:prstGeom>
            <a:gradFill>
              <a:gsLst>
                <a:gs pos="5000">
                  <a:schemeClr val="tx1"/>
                </a:gs>
                <a:gs pos="60000">
                  <a:srgbClr val="384590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Explore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with Drone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6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Spaces</a:t>
              </a:r>
            </a:p>
          </p:txBody>
        </p:sp>
        <p:pic>
          <p:nvPicPr>
            <p:cNvPr id="5" name="Picture 4" descr="A circular object with a light shining on it&#10;&#10;AI-generated content may be incorrect.">
              <a:extLst>
                <a:ext uri="{FF2B5EF4-FFF2-40B4-BE49-F238E27FC236}">
                  <a16:creationId xmlns:a16="http://schemas.microsoft.com/office/drawing/2014/main" id="{D7E581E6-FF01-BD87-7C5A-3EDC440DC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277" r="21861" b="2"/>
            <a:stretch/>
          </p:blipFill>
          <p:spPr>
            <a:xfrm rot="10800000">
              <a:off x="164976" y="1727185"/>
              <a:ext cx="797918" cy="160020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DC30469-9BDD-A10B-6D38-21AD44F44B85}"/>
              </a:ext>
            </a:extLst>
          </p:cNvPr>
          <p:cNvGrpSpPr/>
          <p:nvPr/>
        </p:nvGrpSpPr>
        <p:grpSpPr>
          <a:xfrm>
            <a:off x="2736757" y="126943"/>
            <a:ext cx="2361284" cy="3200392"/>
            <a:chOff x="164976" y="126993"/>
            <a:chExt cx="2361284" cy="320039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51E68F-2DC8-63F7-38CE-7D0BCC735FD9}"/>
                </a:ext>
              </a:extLst>
            </p:cNvPr>
            <p:cNvSpPr/>
            <p:nvPr/>
          </p:nvSpPr>
          <p:spPr>
            <a:xfrm>
              <a:off x="876023" y="126993"/>
              <a:ext cx="1647086" cy="1600200"/>
            </a:xfrm>
            <a:prstGeom prst="rect">
              <a:avLst/>
            </a:prstGeom>
            <a:gradFill>
              <a:gsLst>
                <a:gs pos="5000">
                  <a:schemeClr val="tx1"/>
                </a:gs>
                <a:gs pos="60000">
                  <a:srgbClr val="2F473A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Move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Crawler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Space</a:t>
              </a:r>
            </a:p>
          </p:txBody>
        </p:sp>
        <p:pic>
          <p:nvPicPr>
            <p:cNvPr id="9" name="Picture 8" descr="A cartoon of a spiral cone&#10;&#10;AI-generated content may be incorrect.">
              <a:extLst>
                <a:ext uri="{FF2B5EF4-FFF2-40B4-BE49-F238E27FC236}">
                  <a16:creationId xmlns:a16="http://schemas.microsoft.com/office/drawing/2014/main" id="{E4F4205F-25A2-2E2A-C326-725930983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25" r="29781" b="2"/>
            <a:stretch/>
          </p:blipFill>
          <p:spPr>
            <a:xfrm>
              <a:off x="164976" y="126996"/>
              <a:ext cx="787210" cy="16002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2E724CF-0F17-A14E-EA22-1AB1A95CFCED}"/>
                </a:ext>
              </a:extLst>
            </p:cNvPr>
            <p:cNvSpPr/>
            <p:nvPr/>
          </p:nvSpPr>
          <p:spPr>
            <a:xfrm>
              <a:off x="879174" y="1727180"/>
              <a:ext cx="1647086" cy="1600200"/>
            </a:xfrm>
            <a:prstGeom prst="rect">
              <a:avLst/>
            </a:prstGeom>
            <a:gradFill>
              <a:gsLst>
                <a:gs pos="5000">
                  <a:schemeClr val="tx1"/>
                </a:gs>
                <a:gs pos="60000">
                  <a:srgbClr val="384590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Explore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with Drone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Spaces</a:t>
              </a:r>
            </a:p>
          </p:txBody>
        </p:sp>
        <p:pic>
          <p:nvPicPr>
            <p:cNvPr id="11" name="Picture 10" descr="A circular object with a light shining on it&#10;&#10;AI-generated content may be incorrect.">
              <a:extLst>
                <a:ext uri="{FF2B5EF4-FFF2-40B4-BE49-F238E27FC236}">
                  <a16:creationId xmlns:a16="http://schemas.microsoft.com/office/drawing/2014/main" id="{2456B31A-F389-27A0-B3B1-24AA59EBB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277" r="21861" b="2"/>
            <a:stretch/>
          </p:blipFill>
          <p:spPr>
            <a:xfrm rot="10800000">
              <a:off x="164976" y="1727185"/>
              <a:ext cx="797918" cy="16002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D89D88B-5DAB-D3B5-40C6-68DDD1596311}"/>
              </a:ext>
            </a:extLst>
          </p:cNvPr>
          <p:cNvGrpSpPr/>
          <p:nvPr/>
        </p:nvGrpSpPr>
        <p:grpSpPr>
          <a:xfrm>
            <a:off x="5309165" y="126943"/>
            <a:ext cx="2361284" cy="3200392"/>
            <a:chOff x="164976" y="126993"/>
            <a:chExt cx="2361284" cy="320039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A1264ED-ABD5-65CE-27DC-7ECD3F55DE55}"/>
                </a:ext>
              </a:extLst>
            </p:cNvPr>
            <p:cNvSpPr/>
            <p:nvPr/>
          </p:nvSpPr>
          <p:spPr>
            <a:xfrm>
              <a:off x="876023" y="126993"/>
              <a:ext cx="1647086" cy="1600200"/>
            </a:xfrm>
            <a:prstGeom prst="rect">
              <a:avLst/>
            </a:prstGeom>
            <a:gradFill>
              <a:gsLst>
                <a:gs pos="5000">
                  <a:schemeClr val="tx1"/>
                </a:gs>
                <a:gs pos="60000">
                  <a:srgbClr val="2F473A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Move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Crawler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Space</a:t>
              </a:r>
            </a:p>
          </p:txBody>
        </p:sp>
        <p:pic>
          <p:nvPicPr>
            <p:cNvPr id="14" name="Picture 13" descr="A cartoon of a spiral cone&#10;&#10;AI-generated content may be incorrect.">
              <a:extLst>
                <a:ext uri="{FF2B5EF4-FFF2-40B4-BE49-F238E27FC236}">
                  <a16:creationId xmlns:a16="http://schemas.microsoft.com/office/drawing/2014/main" id="{BE50E305-7BE2-46F4-A7E0-03111EC1E5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25" r="29781" b="2"/>
            <a:stretch/>
          </p:blipFill>
          <p:spPr>
            <a:xfrm>
              <a:off x="164976" y="126996"/>
              <a:ext cx="787210" cy="1600200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6472393-59E5-79B0-0FE2-8906508705CD}"/>
                </a:ext>
              </a:extLst>
            </p:cNvPr>
            <p:cNvSpPr/>
            <p:nvPr/>
          </p:nvSpPr>
          <p:spPr>
            <a:xfrm>
              <a:off x="879174" y="1727180"/>
              <a:ext cx="1647086" cy="1600200"/>
            </a:xfrm>
            <a:prstGeom prst="rect">
              <a:avLst/>
            </a:prstGeom>
            <a:gradFill>
              <a:gsLst>
                <a:gs pos="5000">
                  <a:schemeClr val="tx1"/>
                </a:gs>
                <a:gs pos="60000">
                  <a:srgbClr val="384590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Explore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with Drone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Spaces</a:t>
              </a:r>
            </a:p>
          </p:txBody>
        </p:sp>
        <p:pic>
          <p:nvPicPr>
            <p:cNvPr id="16" name="Picture 15" descr="A circular object with a light shining on it&#10;&#10;AI-generated content may be incorrect.">
              <a:extLst>
                <a:ext uri="{FF2B5EF4-FFF2-40B4-BE49-F238E27FC236}">
                  <a16:creationId xmlns:a16="http://schemas.microsoft.com/office/drawing/2014/main" id="{D5739B82-556A-9DDD-8665-DD7EA1346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277" r="21861" b="2"/>
            <a:stretch/>
          </p:blipFill>
          <p:spPr>
            <a:xfrm rot="10800000">
              <a:off x="164976" y="1727185"/>
              <a:ext cx="797918" cy="16002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79BBC02-A601-E5F1-7C79-D9EA71B9E25D}"/>
              </a:ext>
            </a:extLst>
          </p:cNvPr>
          <p:cNvGrpSpPr/>
          <p:nvPr/>
        </p:nvGrpSpPr>
        <p:grpSpPr>
          <a:xfrm>
            <a:off x="164976" y="3530545"/>
            <a:ext cx="2362539" cy="3200405"/>
            <a:chOff x="3563496" y="228593"/>
            <a:chExt cx="2362539" cy="320040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480FD54-BF96-585F-2D01-8F83FBC927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9075" y="228598"/>
              <a:ext cx="2346960" cy="3200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AF9D73F-FA2D-9190-3568-14570F95D3F9}"/>
                </a:ext>
              </a:extLst>
            </p:cNvPr>
            <p:cNvSpPr/>
            <p:nvPr/>
          </p:nvSpPr>
          <p:spPr>
            <a:xfrm>
              <a:off x="4274543" y="228593"/>
              <a:ext cx="1651492" cy="1600200"/>
            </a:xfrm>
            <a:prstGeom prst="rect">
              <a:avLst/>
            </a:prstGeom>
            <a:gradFill flip="none" rotWithShape="1">
              <a:gsLst>
                <a:gs pos="5000">
                  <a:srgbClr val="061922"/>
                </a:gs>
                <a:gs pos="60000">
                  <a:srgbClr val="C06126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Build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2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Bridge Sections</a:t>
              </a:r>
            </a:p>
          </p:txBody>
        </p:sp>
        <p:pic>
          <p:nvPicPr>
            <p:cNvPr id="24" name="Picture 23" descr="A close up of a welding machine&#10;&#10;AI-generated content may be incorrect.">
              <a:extLst>
                <a:ext uri="{FF2B5EF4-FFF2-40B4-BE49-F238E27FC236}">
                  <a16:creationId xmlns:a16="http://schemas.microsoft.com/office/drawing/2014/main" id="{A4C421C7-D241-185F-4E93-27C2D797C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878" r="21652" b="2"/>
            <a:stretch/>
          </p:blipFill>
          <p:spPr>
            <a:xfrm>
              <a:off x="3563496" y="228600"/>
              <a:ext cx="791618" cy="1600200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E34F491-7054-8193-C228-01ACD4936A37}"/>
                </a:ext>
              </a:extLst>
            </p:cNvPr>
            <p:cNvSpPr/>
            <p:nvPr/>
          </p:nvSpPr>
          <p:spPr>
            <a:xfrm>
              <a:off x="4274543" y="1828793"/>
              <a:ext cx="1647086" cy="1600200"/>
            </a:xfrm>
            <a:prstGeom prst="rect">
              <a:avLst/>
            </a:prstGeom>
            <a:gradFill>
              <a:gsLst>
                <a:gs pos="5000">
                  <a:schemeClr val="tx1"/>
                </a:gs>
                <a:gs pos="60000">
                  <a:srgbClr val="2F473A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Move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Crawler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Space</a:t>
              </a:r>
            </a:p>
          </p:txBody>
        </p:sp>
        <p:pic>
          <p:nvPicPr>
            <p:cNvPr id="26" name="Picture 25" descr="A cartoon of a spiral cone&#10;&#10;AI-generated content may be incorrect.">
              <a:extLst>
                <a:ext uri="{FF2B5EF4-FFF2-40B4-BE49-F238E27FC236}">
                  <a16:creationId xmlns:a16="http://schemas.microsoft.com/office/drawing/2014/main" id="{087E36C3-7F2F-DD44-289B-533D18197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25" r="29781" b="2"/>
            <a:stretch/>
          </p:blipFill>
          <p:spPr>
            <a:xfrm>
              <a:off x="3563496" y="1828796"/>
              <a:ext cx="787210" cy="160020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64A9AB3-DA6B-5AF7-9F0D-4A8A8DA02221}"/>
              </a:ext>
            </a:extLst>
          </p:cNvPr>
          <p:cNvGrpSpPr/>
          <p:nvPr/>
        </p:nvGrpSpPr>
        <p:grpSpPr>
          <a:xfrm>
            <a:off x="2736130" y="3530545"/>
            <a:ext cx="2362539" cy="3200405"/>
            <a:chOff x="3563496" y="228593"/>
            <a:chExt cx="2362539" cy="3200405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99D69EB5-52F3-0140-6C3D-54D11A1F52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9075" y="228598"/>
              <a:ext cx="2346960" cy="3200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D97F2FB-56D3-8C00-7133-C8732E974EC1}"/>
                </a:ext>
              </a:extLst>
            </p:cNvPr>
            <p:cNvSpPr/>
            <p:nvPr/>
          </p:nvSpPr>
          <p:spPr>
            <a:xfrm>
              <a:off x="4274543" y="228593"/>
              <a:ext cx="1651492" cy="1600200"/>
            </a:xfrm>
            <a:prstGeom prst="rect">
              <a:avLst/>
            </a:prstGeom>
            <a:gradFill flip="none" rotWithShape="1">
              <a:gsLst>
                <a:gs pos="5000">
                  <a:srgbClr val="061922"/>
                </a:gs>
                <a:gs pos="60000">
                  <a:srgbClr val="C06126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Build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1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Bridge Sections</a:t>
              </a:r>
            </a:p>
          </p:txBody>
        </p:sp>
        <p:pic>
          <p:nvPicPr>
            <p:cNvPr id="31" name="Picture 30" descr="A close up of a welding machine&#10;&#10;AI-generated content may be incorrect.">
              <a:extLst>
                <a:ext uri="{FF2B5EF4-FFF2-40B4-BE49-F238E27FC236}">
                  <a16:creationId xmlns:a16="http://schemas.microsoft.com/office/drawing/2014/main" id="{98172C03-DA34-6AAF-D814-8CD21FED0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878" r="21652" b="2"/>
            <a:stretch/>
          </p:blipFill>
          <p:spPr>
            <a:xfrm>
              <a:off x="3563496" y="228600"/>
              <a:ext cx="791618" cy="160020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75C0095-A709-C06E-F27E-98F82213E74D}"/>
                </a:ext>
              </a:extLst>
            </p:cNvPr>
            <p:cNvSpPr/>
            <p:nvPr/>
          </p:nvSpPr>
          <p:spPr>
            <a:xfrm>
              <a:off x="4274543" y="1828793"/>
              <a:ext cx="1647086" cy="1600200"/>
            </a:xfrm>
            <a:prstGeom prst="rect">
              <a:avLst/>
            </a:prstGeom>
            <a:gradFill>
              <a:gsLst>
                <a:gs pos="5000">
                  <a:schemeClr val="tx1"/>
                </a:gs>
                <a:gs pos="60000">
                  <a:srgbClr val="2F473A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Move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Crawler </a:t>
              </a:r>
            </a:p>
            <a:p>
              <a:pPr algn="ctr"/>
              <a:r>
                <a:rPr lang="en-US">
                  <a:solidFill>
                    <a:schemeClr val="bg1"/>
                  </a:solidFill>
                </a:rPr>
                <a:t>2 Spaces</a:t>
              </a:r>
              <a:endParaRPr lang="en-US" dirty="0">
                <a:solidFill>
                  <a:schemeClr val="bg1"/>
                </a:solidFill>
              </a:endParaRPr>
            </a:p>
            <a:p>
              <a:pPr algn="ctr"/>
              <a:r>
                <a:rPr lang="en-US" sz="1400" i="1" dirty="0">
                  <a:solidFill>
                    <a:schemeClr val="bg1"/>
                  </a:solidFill>
                </a:rPr>
                <a:t>may mine at each location</a:t>
              </a:r>
            </a:p>
          </p:txBody>
        </p:sp>
        <p:pic>
          <p:nvPicPr>
            <p:cNvPr id="33" name="Picture 32" descr="A cartoon of a spiral cone&#10;&#10;AI-generated content may be incorrect.">
              <a:extLst>
                <a:ext uri="{FF2B5EF4-FFF2-40B4-BE49-F238E27FC236}">
                  <a16:creationId xmlns:a16="http://schemas.microsoft.com/office/drawing/2014/main" id="{C0769832-219E-A95B-989F-A90695310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25" r="29781" b="2"/>
            <a:stretch/>
          </p:blipFill>
          <p:spPr>
            <a:xfrm>
              <a:off x="3563496" y="1828796"/>
              <a:ext cx="787210" cy="1600200"/>
            </a:xfrm>
            <a:prstGeom prst="rect">
              <a:avLst/>
            </a:prstGeom>
          </p:spPr>
        </p:pic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37288D12-9735-21BD-7A13-94B2A2A1B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6327" y="3530545"/>
            <a:ext cx="234696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BF4A05C5-AA84-74E9-2633-72F5D9AE4F97}"/>
              </a:ext>
            </a:extLst>
          </p:cNvPr>
          <p:cNvGrpSpPr/>
          <p:nvPr/>
        </p:nvGrpSpPr>
        <p:grpSpPr>
          <a:xfrm>
            <a:off x="5305387" y="3530545"/>
            <a:ext cx="2368841" cy="3200391"/>
            <a:chOff x="5305388" y="3530589"/>
            <a:chExt cx="2368841" cy="3200391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DFEA17F-A550-5B3D-58BF-9768265E940E}"/>
                </a:ext>
              </a:extLst>
            </p:cNvPr>
            <p:cNvSpPr/>
            <p:nvPr/>
          </p:nvSpPr>
          <p:spPr>
            <a:xfrm>
              <a:off x="6022737" y="3530589"/>
              <a:ext cx="1651492" cy="1600200"/>
            </a:xfrm>
            <a:prstGeom prst="rect">
              <a:avLst/>
            </a:prstGeom>
            <a:gradFill flip="none" rotWithShape="1">
              <a:gsLst>
                <a:gs pos="5000">
                  <a:srgbClr val="061922"/>
                </a:gs>
                <a:gs pos="60000">
                  <a:srgbClr val="C06126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Build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1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Bridge Sections</a:t>
              </a:r>
            </a:p>
          </p:txBody>
        </p:sp>
        <p:pic>
          <p:nvPicPr>
            <p:cNvPr id="37" name="Picture 36" descr="A close up of a welding machine&#10;&#10;AI-generated content may be incorrect.">
              <a:extLst>
                <a:ext uri="{FF2B5EF4-FFF2-40B4-BE49-F238E27FC236}">
                  <a16:creationId xmlns:a16="http://schemas.microsoft.com/office/drawing/2014/main" id="{A15B7FCA-6A5C-8658-C869-CCA7B57D1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878" r="21652" b="2"/>
            <a:stretch/>
          </p:blipFill>
          <p:spPr>
            <a:xfrm>
              <a:off x="5311690" y="3530596"/>
              <a:ext cx="791618" cy="1600200"/>
            </a:xfrm>
            <a:prstGeom prst="rect">
              <a:avLst/>
            </a:prstGeom>
          </p:spPr>
        </p:pic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CB20EC9-D760-CCEB-8644-8C3259743F6E}"/>
                </a:ext>
              </a:extLst>
            </p:cNvPr>
            <p:cNvSpPr/>
            <p:nvPr/>
          </p:nvSpPr>
          <p:spPr>
            <a:xfrm>
              <a:off x="6019586" y="5130775"/>
              <a:ext cx="1647086" cy="1600200"/>
            </a:xfrm>
            <a:prstGeom prst="rect">
              <a:avLst/>
            </a:prstGeom>
            <a:gradFill>
              <a:gsLst>
                <a:gs pos="5000">
                  <a:schemeClr val="tx1"/>
                </a:gs>
                <a:gs pos="60000">
                  <a:srgbClr val="384590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Explore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with Drone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Spaces</a:t>
              </a:r>
            </a:p>
          </p:txBody>
        </p:sp>
        <p:pic>
          <p:nvPicPr>
            <p:cNvPr id="41" name="Picture 40" descr="A circular object with a light shining on it&#10;&#10;AI-generated content may be incorrect.">
              <a:extLst>
                <a:ext uri="{FF2B5EF4-FFF2-40B4-BE49-F238E27FC236}">
                  <a16:creationId xmlns:a16="http://schemas.microsoft.com/office/drawing/2014/main" id="{0C364148-BEF9-B6ED-6991-2C1CF7070B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277" r="21861" b="2"/>
            <a:stretch/>
          </p:blipFill>
          <p:spPr>
            <a:xfrm rot="10800000">
              <a:off x="5305388" y="5130780"/>
              <a:ext cx="797918" cy="160020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E910452-247C-AC5D-ACAA-A0DF820B3101}"/>
              </a:ext>
            </a:extLst>
          </p:cNvPr>
          <p:cNvGrpSpPr/>
          <p:nvPr/>
        </p:nvGrpSpPr>
        <p:grpSpPr>
          <a:xfrm>
            <a:off x="178458" y="126943"/>
            <a:ext cx="2335575" cy="3200400"/>
            <a:chOff x="-2769087" y="1828780"/>
            <a:chExt cx="2335575" cy="320040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ADB3C2E-CB9D-F80E-663A-81886553173E}"/>
                </a:ext>
              </a:extLst>
            </p:cNvPr>
            <p:cNvSpPr/>
            <p:nvPr/>
          </p:nvSpPr>
          <p:spPr>
            <a:xfrm>
              <a:off x="-2664148" y="1927494"/>
              <a:ext cx="2129016" cy="3002972"/>
            </a:xfrm>
            <a:prstGeom prst="roundRect">
              <a:avLst>
                <a:gd name="adj" fmla="val 4954"/>
              </a:avLst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E9575B4-A5B4-9E06-A2C8-41905BBBA445}"/>
                </a:ext>
              </a:extLst>
            </p:cNvPr>
            <p:cNvSpPr/>
            <p:nvPr/>
          </p:nvSpPr>
          <p:spPr>
            <a:xfrm>
              <a:off x="-2769087" y="1828780"/>
              <a:ext cx="2335575" cy="320040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7D6B94E-725E-79C2-8319-41C70CE8051C}"/>
              </a:ext>
            </a:extLst>
          </p:cNvPr>
          <p:cNvGrpSpPr/>
          <p:nvPr/>
        </p:nvGrpSpPr>
        <p:grpSpPr>
          <a:xfrm>
            <a:off x="178458" y="3530545"/>
            <a:ext cx="2335575" cy="3200400"/>
            <a:chOff x="-2769087" y="1828780"/>
            <a:chExt cx="2335575" cy="320040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3F0CD0F7-9DBF-A744-8A5F-A624A0C21F29}"/>
                </a:ext>
              </a:extLst>
            </p:cNvPr>
            <p:cNvSpPr/>
            <p:nvPr/>
          </p:nvSpPr>
          <p:spPr>
            <a:xfrm>
              <a:off x="-2664148" y="1927494"/>
              <a:ext cx="2129016" cy="3002972"/>
            </a:xfrm>
            <a:prstGeom prst="roundRect">
              <a:avLst>
                <a:gd name="adj" fmla="val 4954"/>
              </a:avLst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773B734-B181-E361-917C-B229528E065E}"/>
                </a:ext>
              </a:extLst>
            </p:cNvPr>
            <p:cNvSpPr/>
            <p:nvPr/>
          </p:nvSpPr>
          <p:spPr>
            <a:xfrm>
              <a:off x="-2769087" y="1828780"/>
              <a:ext cx="2335575" cy="320040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18314B8-38CF-8FA0-1C4F-577C84F2845E}"/>
              </a:ext>
            </a:extLst>
          </p:cNvPr>
          <p:cNvGrpSpPr/>
          <p:nvPr/>
        </p:nvGrpSpPr>
        <p:grpSpPr>
          <a:xfrm>
            <a:off x="2749612" y="126943"/>
            <a:ext cx="2335575" cy="3200400"/>
            <a:chOff x="-2769087" y="1828780"/>
            <a:chExt cx="2335575" cy="320040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097AE26D-DC74-8C58-9B1C-74D667F10D14}"/>
                </a:ext>
              </a:extLst>
            </p:cNvPr>
            <p:cNvSpPr/>
            <p:nvPr/>
          </p:nvSpPr>
          <p:spPr>
            <a:xfrm>
              <a:off x="-2664148" y="1927494"/>
              <a:ext cx="2129016" cy="3002972"/>
            </a:xfrm>
            <a:prstGeom prst="roundRect">
              <a:avLst>
                <a:gd name="adj" fmla="val 4954"/>
              </a:avLst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5864AE6-B9F9-08F8-1509-862F660DD57F}"/>
                </a:ext>
              </a:extLst>
            </p:cNvPr>
            <p:cNvSpPr/>
            <p:nvPr/>
          </p:nvSpPr>
          <p:spPr>
            <a:xfrm>
              <a:off x="-2769087" y="1828780"/>
              <a:ext cx="2335575" cy="320040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5B6A9A0-40BE-FCF4-2C78-E0D77D82D773}"/>
              </a:ext>
            </a:extLst>
          </p:cNvPr>
          <p:cNvGrpSpPr/>
          <p:nvPr/>
        </p:nvGrpSpPr>
        <p:grpSpPr>
          <a:xfrm>
            <a:off x="2749612" y="3530545"/>
            <a:ext cx="2335575" cy="3200400"/>
            <a:chOff x="-2769087" y="1828780"/>
            <a:chExt cx="2335575" cy="3200400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E4507C97-6803-B243-BF41-2E5BFF6F5C7F}"/>
                </a:ext>
              </a:extLst>
            </p:cNvPr>
            <p:cNvSpPr/>
            <p:nvPr/>
          </p:nvSpPr>
          <p:spPr>
            <a:xfrm>
              <a:off x="-2664148" y="1927494"/>
              <a:ext cx="2129016" cy="3002972"/>
            </a:xfrm>
            <a:prstGeom prst="roundRect">
              <a:avLst>
                <a:gd name="adj" fmla="val 4954"/>
              </a:avLst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A1E2A21-1CC3-41BE-B1D3-AED3363490D8}"/>
                </a:ext>
              </a:extLst>
            </p:cNvPr>
            <p:cNvSpPr/>
            <p:nvPr/>
          </p:nvSpPr>
          <p:spPr>
            <a:xfrm>
              <a:off x="-2769087" y="1828780"/>
              <a:ext cx="2335575" cy="320040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A91FF3F-6FAF-0E87-B193-93E877F4E6C6}"/>
              </a:ext>
            </a:extLst>
          </p:cNvPr>
          <p:cNvGrpSpPr/>
          <p:nvPr/>
        </p:nvGrpSpPr>
        <p:grpSpPr>
          <a:xfrm>
            <a:off x="5322020" y="126943"/>
            <a:ext cx="2335575" cy="3200400"/>
            <a:chOff x="-2769087" y="1828780"/>
            <a:chExt cx="2335575" cy="3200400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65FFAD4B-43C2-6516-3E33-4545DD98C7CA}"/>
                </a:ext>
              </a:extLst>
            </p:cNvPr>
            <p:cNvSpPr/>
            <p:nvPr/>
          </p:nvSpPr>
          <p:spPr>
            <a:xfrm>
              <a:off x="-2664148" y="1927494"/>
              <a:ext cx="2129016" cy="3002972"/>
            </a:xfrm>
            <a:prstGeom prst="roundRect">
              <a:avLst>
                <a:gd name="adj" fmla="val 4954"/>
              </a:avLst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4A9EE1E-4700-50C7-8524-3F404F4C1850}"/>
                </a:ext>
              </a:extLst>
            </p:cNvPr>
            <p:cNvSpPr/>
            <p:nvPr/>
          </p:nvSpPr>
          <p:spPr>
            <a:xfrm>
              <a:off x="-2769087" y="1828780"/>
              <a:ext cx="2335575" cy="320040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8232D22-93BE-8072-2738-F6A4F321C63F}"/>
              </a:ext>
            </a:extLst>
          </p:cNvPr>
          <p:cNvGrpSpPr/>
          <p:nvPr/>
        </p:nvGrpSpPr>
        <p:grpSpPr>
          <a:xfrm>
            <a:off x="5322020" y="3530545"/>
            <a:ext cx="2335575" cy="3200400"/>
            <a:chOff x="-2769087" y="1828780"/>
            <a:chExt cx="2335575" cy="3200400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A06C5806-E78F-C938-7CFD-AD9649FC1C1D}"/>
                </a:ext>
              </a:extLst>
            </p:cNvPr>
            <p:cNvSpPr/>
            <p:nvPr/>
          </p:nvSpPr>
          <p:spPr>
            <a:xfrm>
              <a:off x="-2664148" y="1927494"/>
              <a:ext cx="2129016" cy="3002972"/>
            </a:xfrm>
            <a:prstGeom prst="roundRect">
              <a:avLst>
                <a:gd name="adj" fmla="val 4954"/>
              </a:avLst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773C0D6-9BA1-B9EC-3361-0CA0CC5C7CAB}"/>
                </a:ext>
              </a:extLst>
            </p:cNvPr>
            <p:cNvSpPr/>
            <p:nvPr/>
          </p:nvSpPr>
          <p:spPr>
            <a:xfrm>
              <a:off x="-2769087" y="1828780"/>
              <a:ext cx="2335575" cy="320040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9312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 space suit standing on a rocky landscape&#10;&#10;AI-generated content may be incorrect.">
            <a:extLst>
              <a:ext uri="{FF2B5EF4-FFF2-40B4-BE49-F238E27FC236}">
                <a16:creationId xmlns:a16="http://schemas.microsoft.com/office/drawing/2014/main" id="{87F93088-CC38-2A4D-7A17-94F0F5917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59" t="26963" b="16815"/>
          <a:stretch/>
        </p:blipFill>
        <p:spPr>
          <a:xfrm>
            <a:off x="4235451" y="1487170"/>
            <a:ext cx="2347512" cy="3200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706D1F-227F-7A4E-E899-A9012B54A66B}"/>
              </a:ext>
            </a:extLst>
          </p:cNvPr>
          <p:cNvSpPr txBox="1"/>
          <p:nvPr/>
        </p:nvSpPr>
        <p:spPr>
          <a:xfrm>
            <a:off x="1168400" y="558800"/>
            <a:ext cx="226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3.248 x 4.429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9378CF-B814-ABAE-219A-7BFDDB05F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064" y="1487170"/>
            <a:ext cx="234696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C28EB74-445A-D633-6A8C-05C4BEFF91E2}"/>
              </a:ext>
            </a:extLst>
          </p:cNvPr>
          <p:cNvGrpSpPr/>
          <p:nvPr/>
        </p:nvGrpSpPr>
        <p:grpSpPr>
          <a:xfrm>
            <a:off x="4235451" y="1487170"/>
            <a:ext cx="2335575" cy="3200400"/>
            <a:chOff x="-2769087" y="1828780"/>
            <a:chExt cx="2335575" cy="32004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48C6C91-08D9-F839-319E-AD06F475E17A}"/>
                </a:ext>
              </a:extLst>
            </p:cNvPr>
            <p:cNvSpPr/>
            <p:nvPr/>
          </p:nvSpPr>
          <p:spPr>
            <a:xfrm>
              <a:off x="-2664148" y="1927494"/>
              <a:ext cx="2129016" cy="3002972"/>
            </a:xfrm>
            <a:prstGeom prst="roundRect">
              <a:avLst>
                <a:gd name="adj" fmla="val 4954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5DBA699-423C-7816-2FF9-4AFC443337A3}"/>
                </a:ext>
              </a:extLst>
            </p:cNvPr>
            <p:cNvSpPr/>
            <p:nvPr/>
          </p:nvSpPr>
          <p:spPr>
            <a:xfrm>
              <a:off x="-2769087" y="1828780"/>
              <a:ext cx="2335575" cy="320040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754E4FF-4A7A-2142-4A7C-C641E9FB6BAA}"/>
              </a:ext>
            </a:extLst>
          </p:cNvPr>
          <p:cNvSpPr/>
          <p:nvPr/>
        </p:nvSpPr>
        <p:spPr>
          <a:xfrm>
            <a:off x="2298700" y="1487170"/>
            <a:ext cx="1564324" cy="3200400"/>
          </a:xfrm>
          <a:prstGeom prst="rect">
            <a:avLst/>
          </a:prstGeom>
          <a:solidFill>
            <a:srgbClr val="144B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3D24C0-EE2C-2710-93AB-CEE1164F33E6}"/>
              </a:ext>
            </a:extLst>
          </p:cNvPr>
          <p:cNvGrpSpPr/>
          <p:nvPr/>
        </p:nvGrpSpPr>
        <p:grpSpPr>
          <a:xfrm>
            <a:off x="1503172" y="1487170"/>
            <a:ext cx="795528" cy="3200400"/>
            <a:chOff x="1515512" y="1807210"/>
            <a:chExt cx="795528" cy="3200400"/>
          </a:xfrm>
        </p:grpSpPr>
        <p:pic>
          <p:nvPicPr>
            <p:cNvPr id="8" name="Picture 7" descr="A blue hexagons on a black background&#10;&#10;AI-generated content may be incorrect.">
              <a:extLst>
                <a:ext uri="{FF2B5EF4-FFF2-40B4-BE49-F238E27FC236}">
                  <a16:creationId xmlns:a16="http://schemas.microsoft.com/office/drawing/2014/main" id="{44D4526C-0458-0ED0-27EE-311D3AFA4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847" t="22652" r="21847"/>
            <a:stretch/>
          </p:blipFill>
          <p:spPr>
            <a:xfrm>
              <a:off x="1515512" y="1807210"/>
              <a:ext cx="795528" cy="1092801"/>
            </a:xfrm>
            <a:prstGeom prst="rect">
              <a:avLst/>
            </a:prstGeom>
          </p:spPr>
        </p:pic>
        <p:pic>
          <p:nvPicPr>
            <p:cNvPr id="9" name="Picture 8" descr="A blue hexagons on a black background&#10;&#10;AI-generated content may be incorrect.">
              <a:extLst>
                <a:ext uri="{FF2B5EF4-FFF2-40B4-BE49-F238E27FC236}">
                  <a16:creationId xmlns:a16="http://schemas.microsoft.com/office/drawing/2014/main" id="{4E635DDD-229D-709D-FA31-2C424068BD9E}"/>
                </a:ext>
              </a:extLst>
            </p:cNvPr>
            <p:cNvPicPr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847" r="21847"/>
            <a:stretch/>
          </p:blipFill>
          <p:spPr>
            <a:xfrm flipV="1">
              <a:off x="1515512" y="2900011"/>
              <a:ext cx="795528" cy="1417320"/>
            </a:xfrm>
            <a:prstGeom prst="rect">
              <a:avLst/>
            </a:prstGeom>
          </p:spPr>
        </p:pic>
        <p:pic>
          <p:nvPicPr>
            <p:cNvPr id="11" name="Picture 10" descr="A blue hexagons on a black background&#10;&#10;AI-generated content may be incorrect.">
              <a:extLst>
                <a:ext uri="{FF2B5EF4-FFF2-40B4-BE49-F238E27FC236}">
                  <a16:creationId xmlns:a16="http://schemas.microsoft.com/office/drawing/2014/main" id="{4C786C7F-ED1A-8D42-6A46-7B57C17B0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847" r="21847" b="50805"/>
            <a:stretch/>
          </p:blipFill>
          <p:spPr>
            <a:xfrm>
              <a:off x="1515512" y="4312569"/>
              <a:ext cx="795528" cy="695041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62E38B9-E0ED-C9CD-CEB5-3E44013DFC01}"/>
              </a:ext>
            </a:extLst>
          </p:cNvPr>
          <p:cNvSpPr/>
          <p:nvPr/>
        </p:nvSpPr>
        <p:spPr>
          <a:xfrm>
            <a:off x="6675965" y="99982"/>
            <a:ext cx="2359852" cy="6510367"/>
          </a:xfrm>
          <a:prstGeom prst="rect">
            <a:avLst/>
          </a:prstGeom>
          <a:solidFill>
            <a:srgbClr val="144B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bg1"/>
                </a:solidFill>
              </a:rPr>
              <a:t>Action Types</a:t>
            </a:r>
          </a:p>
          <a:p>
            <a:r>
              <a:rPr lang="en-US" sz="1200" dirty="0">
                <a:solidFill>
                  <a:schemeClr val="bg1"/>
                </a:solidFill>
              </a:rPr>
              <a:t>Explore with drone:</a:t>
            </a:r>
          </a:p>
          <a:p>
            <a:r>
              <a:rPr lang="en-US" sz="1200" dirty="0">
                <a:solidFill>
                  <a:schemeClr val="bg1"/>
                </a:solidFill>
              </a:rPr>
              <a:t>Drone leave from crawler a moves orthogonally across board. Any new locations are drawn from bag and placed on board as revealed by drone. Drone returns to crawler at end of move.  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Move with crawler:</a:t>
            </a:r>
          </a:p>
          <a:p>
            <a:r>
              <a:rPr lang="en-US" sz="1200" dirty="0">
                <a:solidFill>
                  <a:schemeClr val="bg1"/>
                </a:solidFill>
              </a:rPr>
              <a:t>Crawler moves orthogonally across board to only revealed locations. Canyons may only be traversed with bridges. 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Build a bridge: 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Mine with crawler:</a:t>
            </a:r>
          </a:p>
          <a:p>
            <a:r>
              <a:rPr lang="en-US" sz="1200" dirty="0">
                <a:solidFill>
                  <a:schemeClr val="bg1"/>
                </a:solidFill>
              </a:rPr>
              <a:t>At conclusion of turn the final space of the crawler movement may be mined if possible. Basic mines have one marker added to location to a max of three. Rare mines have one marker added only per location.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7547CC-6220-C55F-6F1D-B97E0DFC5675}"/>
              </a:ext>
            </a:extLst>
          </p:cNvPr>
          <p:cNvSpPr txBox="1"/>
          <p:nvPr/>
        </p:nvSpPr>
        <p:spPr>
          <a:xfrm>
            <a:off x="2403638" y="1700183"/>
            <a:ext cx="135106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Turn Play</a:t>
            </a:r>
          </a:p>
          <a:p>
            <a:r>
              <a:rPr lang="en-US" sz="1200" dirty="0">
                <a:solidFill>
                  <a:schemeClr val="bg1"/>
                </a:solidFill>
              </a:rPr>
              <a:t>- Play one card from your hand; use either the top or bottom action</a:t>
            </a:r>
          </a:p>
          <a:p>
            <a:r>
              <a:rPr lang="en-US" sz="1200" dirty="0">
                <a:solidFill>
                  <a:schemeClr val="bg1"/>
                </a:solidFill>
              </a:rPr>
              <a:t>- Complete build or movement</a:t>
            </a:r>
          </a:p>
          <a:p>
            <a:r>
              <a:rPr lang="en-US" sz="1200" dirty="0">
                <a:solidFill>
                  <a:schemeClr val="bg1"/>
                </a:solidFill>
              </a:rPr>
              <a:t>- Mine, if possible, at crawler location</a:t>
            </a:r>
          </a:p>
          <a:p>
            <a:r>
              <a:rPr lang="en-US" sz="1200" dirty="0">
                <a:solidFill>
                  <a:schemeClr val="bg1"/>
                </a:solidFill>
              </a:rPr>
              <a:t>- Draw back to 4 cards</a:t>
            </a:r>
          </a:p>
          <a:p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854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A2F106-B06F-2725-17A3-A6FEBF8AF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328999"/>
            <a:ext cx="234696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868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paper with a white circle on it&#10;&#10;AI-generated content may be incorrect.">
            <a:extLst>
              <a:ext uri="{FF2B5EF4-FFF2-40B4-BE49-F238E27FC236}">
                <a16:creationId xmlns:a16="http://schemas.microsoft.com/office/drawing/2014/main" id="{03089261-7B2C-8F22-88D3-C41DB14BF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643" y="101803"/>
            <a:ext cx="3250794" cy="3250794"/>
          </a:xfrm>
          <a:prstGeom prst="rect">
            <a:avLst/>
          </a:prstGeom>
        </p:spPr>
      </p:pic>
      <p:pic>
        <p:nvPicPr>
          <p:cNvPr id="8" name="Picture 7" descr="A circular saw blade with a wooden handle&#10;&#10;AI-generated content may be incorrect.">
            <a:extLst>
              <a:ext uri="{FF2B5EF4-FFF2-40B4-BE49-F238E27FC236}">
                <a16:creationId xmlns:a16="http://schemas.microsoft.com/office/drawing/2014/main" id="{0A05BC20-8942-CE55-6537-9F00FED69F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763" y="3403397"/>
            <a:ext cx="3250794" cy="3250794"/>
          </a:xfrm>
          <a:prstGeom prst="rect">
            <a:avLst/>
          </a:prstGeom>
        </p:spPr>
      </p:pic>
      <p:pic>
        <p:nvPicPr>
          <p:cNvPr id="10" name="Picture 9" descr="A cartoon of a spiral cone&#10;&#10;AI-generated content may be incorrect.">
            <a:extLst>
              <a:ext uri="{FF2B5EF4-FFF2-40B4-BE49-F238E27FC236}">
                <a16:creationId xmlns:a16="http://schemas.microsoft.com/office/drawing/2014/main" id="{EB9AB6E6-AF95-A079-0AF7-371B38F97D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839" y="3352597"/>
            <a:ext cx="3250794" cy="3250794"/>
          </a:xfrm>
          <a:prstGeom prst="rect">
            <a:avLst/>
          </a:prstGeom>
        </p:spPr>
      </p:pic>
      <p:pic>
        <p:nvPicPr>
          <p:cNvPr id="12" name="Picture 11" descr="A chain with a fire in the background&#10;&#10;AI-generated content may be incorrect.">
            <a:extLst>
              <a:ext uri="{FF2B5EF4-FFF2-40B4-BE49-F238E27FC236}">
                <a16:creationId xmlns:a16="http://schemas.microsoft.com/office/drawing/2014/main" id="{CC1E7359-BDEA-F814-6FB5-9AFC1B43DB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403" y="-70917"/>
            <a:ext cx="3250794" cy="3250794"/>
          </a:xfrm>
          <a:prstGeom prst="rect">
            <a:avLst/>
          </a:prstGeom>
        </p:spPr>
      </p:pic>
      <p:pic>
        <p:nvPicPr>
          <p:cNvPr id="14" name="Picture 13" descr="A moon and a sunset&#10;&#10;AI-generated content may be incorrect.">
            <a:extLst>
              <a:ext uri="{FF2B5EF4-FFF2-40B4-BE49-F238E27FC236}">
                <a16:creationId xmlns:a16="http://schemas.microsoft.com/office/drawing/2014/main" id="{FA36C38E-2147-84E9-E5D8-EC45302189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6634" y="-163310"/>
            <a:ext cx="3250794" cy="3250794"/>
          </a:xfrm>
          <a:prstGeom prst="rect">
            <a:avLst/>
          </a:prstGeom>
        </p:spPr>
      </p:pic>
      <p:pic>
        <p:nvPicPr>
          <p:cNvPr id="16" name="Picture 15" descr="A drawing of a star with writing on it&#10;&#10;AI-generated content may be incorrect.">
            <a:extLst>
              <a:ext uri="{FF2B5EF4-FFF2-40B4-BE49-F238E27FC236}">
                <a16:creationId xmlns:a16="http://schemas.microsoft.com/office/drawing/2014/main" id="{476AF370-1CA9-8D5B-0EBC-7782130A23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09613" y="3232353"/>
            <a:ext cx="3250794" cy="325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466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hammer with a wooden handle&#10;&#10;AI-generated content may be incorrect.">
            <a:extLst>
              <a:ext uri="{FF2B5EF4-FFF2-40B4-BE49-F238E27FC236}">
                <a16:creationId xmlns:a16="http://schemas.microsoft.com/office/drawing/2014/main" id="{F70E7D5C-848E-220B-970E-3823E4D47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508" y="465340"/>
            <a:ext cx="3250794" cy="3250794"/>
          </a:xfrm>
          <a:prstGeom prst="rect">
            <a:avLst/>
          </a:prstGeom>
        </p:spPr>
      </p:pic>
      <p:pic>
        <p:nvPicPr>
          <p:cNvPr id="5" name="Picture 4" descr="A cartoon of a pickaxe&#10;&#10;AI-generated content may be incorrect.">
            <a:extLst>
              <a:ext uri="{FF2B5EF4-FFF2-40B4-BE49-F238E27FC236}">
                <a16:creationId xmlns:a16="http://schemas.microsoft.com/office/drawing/2014/main" id="{712B0B3D-F667-F713-194F-4F803647B4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478" y="579640"/>
            <a:ext cx="3250794" cy="3250794"/>
          </a:xfrm>
          <a:prstGeom prst="rect">
            <a:avLst/>
          </a:prstGeom>
        </p:spPr>
      </p:pic>
      <p:pic>
        <p:nvPicPr>
          <p:cNvPr id="7" name="Picture 6" descr="A cartoon of a hat&#10;&#10;AI-generated content may be incorrect.">
            <a:extLst>
              <a:ext uri="{FF2B5EF4-FFF2-40B4-BE49-F238E27FC236}">
                <a16:creationId xmlns:a16="http://schemas.microsoft.com/office/drawing/2014/main" id="{C65B6B34-B2F2-E65B-DBA7-2438128683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31" y="3429000"/>
            <a:ext cx="3250794" cy="3250794"/>
          </a:xfrm>
          <a:prstGeom prst="rect">
            <a:avLst/>
          </a:prstGeom>
        </p:spPr>
      </p:pic>
      <p:pic>
        <p:nvPicPr>
          <p:cNvPr id="9" name="Picture 8" descr="A cartoon of a cylinder&#10;&#10;AI-generated content may be incorrect.">
            <a:extLst>
              <a:ext uri="{FF2B5EF4-FFF2-40B4-BE49-F238E27FC236}">
                <a16:creationId xmlns:a16="http://schemas.microsoft.com/office/drawing/2014/main" id="{93E309BD-730F-C18D-E00F-6F93510D6C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125" y="3429000"/>
            <a:ext cx="3250794" cy="3250794"/>
          </a:xfrm>
          <a:prstGeom prst="rect">
            <a:avLst/>
          </a:prstGeom>
        </p:spPr>
      </p:pic>
      <p:pic>
        <p:nvPicPr>
          <p:cNvPr id="11" name="Picture 10" descr="A bullet with a white cap&#10;&#10;AI-generated content may be incorrect.">
            <a:extLst>
              <a:ext uri="{FF2B5EF4-FFF2-40B4-BE49-F238E27FC236}">
                <a16:creationId xmlns:a16="http://schemas.microsoft.com/office/drawing/2014/main" id="{6A604D6E-803D-8290-0A17-ED4FAC999C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742" y="665366"/>
            <a:ext cx="3250794" cy="3250794"/>
          </a:xfrm>
          <a:prstGeom prst="rect">
            <a:avLst/>
          </a:prstGeom>
        </p:spPr>
      </p:pic>
      <p:pic>
        <p:nvPicPr>
          <p:cNvPr id="15" name="Picture 14" descr="A gold circle with six circles&#10;&#10;AI-generated content may be incorrect.">
            <a:extLst>
              <a:ext uri="{FF2B5EF4-FFF2-40B4-BE49-F238E27FC236}">
                <a16:creationId xmlns:a16="http://schemas.microsoft.com/office/drawing/2014/main" id="{A607B854-3C95-7FE5-25EE-5AF68ECC25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469" y="3875780"/>
            <a:ext cx="3250794" cy="325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573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with a ruler and a pair of compasses&#10;&#10;AI-generated content may be incorrect.">
            <a:extLst>
              <a:ext uri="{FF2B5EF4-FFF2-40B4-BE49-F238E27FC236}">
                <a16:creationId xmlns:a16="http://schemas.microsoft.com/office/drawing/2014/main" id="{784FCBE6-6A31-899D-F566-1AF8EA303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03" y="522491"/>
            <a:ext cx="3250794" cy="3250794"/>
          </a:xfrm>
          <a:prstGeom prst="rect">
            <a:avLst/>
          </a:prstGeom>
        </p:spPr>
      </p:pic>
      <p:pic>
        <p:nvPicPr>
          <p:cNvPr id="4" name="Picture 3" descr="A cartoon of a spiral cone&#10;&#10;AI-generated content may be incorrect.">
            <a:extLst>
              <a:ext uri="{FF2B5EF4-FFF2-40B4-BE49-F238E27FC236}">
                <a16:creationId xmlns:a16="http://schemas.microsoft.com/office/drawing/2014/main" id="{FDB27CEA-BE48-A146-B367-4491280FF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3352" y="566534"/>
            <a:ext cx="3250794" cy="3250794"/>
          </a:xfrm>
          <a:prstGeom prst="rect">
            <a:avLst/>
          </a:prstGeom>
        </p:spPr>
      </p:pic>
      <p:pic>
        <p:nvPicPr>
          <p:cNvPr id="6" name="Picture 5" descr="A stone bridge over a river&#10;&#10;AI-generated content may be incorrect.">
            <a:extLst>
              <a:ext uri="{FF2B5EF4-FFF2-40B4-BE49-F238E27FC236}">
                <a16:creationId xmlns:a16="http://schemas.microsoft.com/office/drawing/2014/main" id="{45E0E2CE-BAC3-DE24-917E-55051A411E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003" y="566534"/>
            <a:ext cx="3250794" cy="3250794"/>
          </a:xfrm>
          <a:prstGeom prst="rect">
            <a:avLst/>
          </a:prstGeom>
        </p:spPr>
      </p:pic>
      <p:pic>
        <p:nvPicPr>
          <p:cNvPr id="8" name="Picture 7" descr="Blue arrows on a black background&#10;&#10;AI-generated content may be incorrect.">
            <a:extLst>
              <a:ext uri="{FF2B5EF4-FFF2-40B4-BE49-F238E27FC236}">
                <a16:creationId xmlns:a16="http://schemas.microsoft.com/office/drawing/2014/main" id="{C9CBDB75-6B89-C8A6-598F-19050BBF5E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003" y="566534"/>
            <a:ext cx="3250794" cy="3250794"/>
          </a:xfrm>
          <a:prstGeom prst="rect">
            <a:avLst/>
          </a:prstGeom>
        </p:spPr>
      </p:pic>
      <p:pic>
        <p:nvPicPr>
          <p:cNvPr id="9" name="Picture 8" descr="A blue paper with a white circle on it&#10;&#10;AI-generated content may be incorrect.">
            <a:extLst>
              <a:ext uri="{FF2B5EF4-FFF2-40B4-BE49-F238E27FC236}">
                <a16:creationId xmlns:a16="http://schemas.microsoft.com/office/drawing/2014/main" id="{6832E75F-706A-EF82-E05D-7DA39A6F6F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06" y="3492703"/>
            <a:ext cx="3250794" cy="325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327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F7B9026-36AD-42E4-B172-8D68F3A33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 descr="A close up of a welding machine&#10;&#10;AI-generated content may be incorrect.">
            <a:extLst>
              <a:ext uri="{FF2B5EF4-FFF2-40B4-BE49-F238E27FC236}">
                <a16:creationId xmlns:a16="http://schemas.microsoft.com/office/drawing/2014/main" id="{A052DADF-9229-203A-E05E-F293C1A27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48" r="24382" b="2"/>
          <a:stretch/>
        </p:blipFill>
        <p:spPr>
          <a:xfrm>
            <a:off x="144396" y="171716"/>
            <a:ext cx="1283129" cy="2938197"/>
          </a:xfrm>
          <a:prstGeom prst="rect">
            <a:avLst/>
          </a:prstGeom>
        </p:spPr>
      </p:pic>
      <p:pic>
        <p:nvPicPr>
          <p:cNvPr id="10" name="Picture 9" descr="A circular object with a light shining on it&#10;&#10;AI-generated content may be incorrect.">
            <a:extLst>
              <a:ext uri="{FF2B5EF4-FFF2-40B4-BE49-F238E27FC236}">
                <a16:creationId xmlns:a16="http://schemas.microsoft.com/office/drawing/2014/main" id="{E83178C1-8F51-3E5A-D38A-88635C8B6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02" r="24787" b="2"/>
          <a:stretch/>
        </p:blipFill>
        <p:spPr>
          <a:xfrm rot="10800000">
            <a:off x="3138403" y="171715"/>
            <a:ext cx="1293160" cy="2938197"/>
          </a:xfrm>
          <a:prstGeom prst="rect">
            <a:avLst/>
          </a:prstGeom>
        </p:spPr>
      </p:pic>
      <p:pic>
        <p:nvPicPr>
          <p:cNvPr id="2" name="Picture 1" descr="A cartoon of a spiral cone&#10;&#10;AI-generated content may be incorrect.">
            <a:extLst>
              <a:ext uri="{FF2B5EF4-FFF2-40B4-BE49-F238E27FC236}">
                <a16:creationId xmlns:a16="http://schemas.microsoft.com/office/drawing/2014/main" id="{78C98C90-752E-3F0E-4F0B-5A23F4F7C6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55" r="32509" b="2"/>
          <a:stretch/>
        </p:blipFill>
        <p:spPr>
          <a:xfrm>
            <a:off x="6141025" y="171716"/>
            <a:ext cx="1285070" cy="293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786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2D5DC-8E24-E475-6FF1-12E8B71A6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artoon of a spiral cone&#10;&#10;AI-generated content may be incorrect.">
            <a:extLst>
              <a:ext uri="{FF2B5EF4-FFF2-40B4-BE49-F238E27FC236}">
                <a16:creationId xmlns:a16="http://schemas.microsoft.com/office/drawing/2014/main" id="{FB04E57D-C72F-ED96-9F58-89BBF1620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764" y="536778"/>
            <a:ext cx="3250794" cy="3250794"/>
          </a:xfrm>
          <a:prstGeom prst="rect">
            <a:avLst/>
          </a:prstGeom>
        </p:spPr>
      </p:pic>
      <p:pic>
        <p:nvPicPr>
          <p:cNvPr id="7" name="Picture 6" descr="A close up of a welding machine&#10;&#10;AI-generated content may be incorrect.">
            <a:extLst>
              <a:ext uri="{FF2B5EF4-FFF2-40B4-BE49-F238E27FC236}">
                <a16:creationId xmlns:a16="http://schemas.microsoft.com/office/drawing/2014/main" id="{7F4F6E13-AF42-AD80-F43E-3A46EA87D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4442" y="536778"/>
            <a:ext cx="3250794" cy="3250794"/>
          </a:xfrm>
          <a:prstGeom prst="rect">
            <a:avLst/>
          </a:prstGeom>
        </p:spPr>
      </p:pic>
      <p:pic>
        <p:nvPicPr>
          <p:cNvPr id="9" name="Picture 8" descr="A circular object with a light shining on it&#10;&#10;AI-generated content may be incorrect.">
            <a:extLst>
              <a:ext uri="{FF2B5EF4-FFF2-40B4-BE49-F238E27FC236}">
                <a16:creationId xmlns:a16="http://schemas.microsoft.com/office/drawing/2014/main" id="{E21B2539-260D-94D7-2974-2FFE9FBBD0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84370" y="3232353"/>
            <a:ext cx="3250794" cy="325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018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hexagons on a black background&#10;&#10;AI-generated content may be incorrect.">
            <a:extLst>
              <a:ext uri="{FF2B5EF4-FFF2-40B4-BE49-F238E27FC236}">
                <a16:creationId xmlns:a16="http://schemas.microsoft.com/office/drawing/2014/main" id="{47203803-4CE1-84F0-3580-058275368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91" y="131965"/>
            <a:ext cx="3250794" cy="3250794"/>
          </a:xfrm>
          <a:prstGeom prst="rect">
            <a:avLst/>
          </a:prstGeom>
        </p:spPr>
      </p:pic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06ED86EB-69B9-E247-ED38-4ED279A1C2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322" y="178206"/>
            <a:ext cx="3250794" cy="3250794"/>
          </a:xfrm>
          <a:prstGeom prst="rect">
            <a:avLst/>
          </a:prstGeom>
        </p:spPr>
      </p:pic>
      <p:pic>
        <p:nvPicPr>
          <p:cNvPr id="7" name="Picture 6" descr="A yellow light in the shape of a heart&#10;&#10;AI-generated content may be incorrect.">
            <a:extLst>
              <a:ext uri="{FF2B5EF4-FFF2-40B4-BE49-F238E27FC236}">
                <a16:creationId xmlns:a16="http://schemas.microsoft.com/office/drawing/2014/main" id="{277EFC13-E03B-7310-C594-9600817214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91" y="3663747"/>
            <a:ext cx="3250794" cy="3250794"/>
          </a:xfrm>
          <a:prstGeom prst="rect">
            <a:avLst/>
          </a:prstGeom>
        </p:spPr>
      </p:pic>
      <p:pic>
        <p:nvPicPr>
          <p:cNvPr id="9" name="Picture 8" descr="A logo of a hexagon with a black circle&#10;&#10;AI-generated content may be incorrect.">
            <a:extLst>
              <a:ext uri="{FF2B5EF4-FFF2-40B4-BE49-F238E27FC236}">
                <a16:creationId xmlns:a16="http://schemas.microsoft.com/office/drawing/2014/main" id="{211FE9B1-3996-8709-6923-459EC31667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322" y="3607206"/>
            <a:ext cx="3250794" cy="3250794"/>
          </a:xfrm>
          <a:prstGeom prst="rect">
            <a:avLst/>
          </a:prstGeom>
        </p:spPr>
      </p:pic>
      <p:pic>
        <p:nvPicPr>
          <p:cNvPr id="11" name="Picture 10" descr="A screenshot of a game&#10;&#10;AI-generated content may be incorrect.">
            <a:extLst>
              <a:ext uri="{FF2B5EF4-FFF2-40B4-BE49-F238E27FC236}">
                <a16:creationId xmlns:a16="http://schemas.microsoft.com/office/drawing/2014/main" id="{4B187EDB-5020-89C7-C151-6BB754F91C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391" y="178206"/>
            <a:ext cx="3250794" cy="3250794"/>
          </a:xfrm>
          <a:prstGeom prst="rect">
            <a:avLst/>
          </a:prstGeom>
        </p:spPr>
      </p:pic>
      <p:pic>
        <p:nvPicPr>
          <p:cNvPr id="13" name="Picture 12" descr="A purple circle with dots&#10;&#10;AI-generated content may be incorrect.">
            <a:extLst>
              <a:ext uri="{FF2B5EF4-FFF2-40B4-BE49-F238E27FC236}">
                <a16:creationId xmlns:a16="http://schemas.microsoft.com/office/drawing/2014/main" id="{0CE0803B-5BBB-7DEC-E9C9-1326C5D28E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391" y="3607206"/>
            <a:ext cx="3250794" cy="325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223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B9234A-E9CD-B8C8-649F-A963A6193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2" y="1234758"/>
            <a:ext cx="234696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7977642-9C0F-53D6-EB07-7BA8739A28ED}"/>
              </a:ext>
            </a:extLst>
          </p:cNvPr>
          <p:cNvSpPr/>
          <p:nvPr/>
        </p:nvSpPr>
        <p:spPr>
          <a:xfrm>
            <a:off x="1282702" y="1234753"/>
            <a:ext cx="2346960" cy="1600200"/>
          </a:xfrm>
          <a:prstGeom prst="rect">
            <a:avLst/>
          </a:prstGeom>
          <a:solidFill>
            <a:srgbClr val="C061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9B25EF-1E81-CB78-4849-6202424D70D3}"/>
              </a:ext>
            </a:extLst>
          </p:cNvPr>
          <p:cNvSpPr/>
          <p:nvPr/>
        </p:nvSpPr>
        <p:spPr>
          <a:xfrm>
            <a:off x="4719322" y="1234755"/>
            <a:ext cx="2346960" cy="3200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102E68-3838-CCB6-808E-1638D6D25C71}"/>
              </a:ext>
            </a:extLst>
          </p:cNvPr>
          <p:cNvSpPr/>
          <p:nvPr/>
        </p:nvSpPr>
        <p:spPr>
          <a:xfrm>
            <a:off x="4719322" y="1234755"/>
            <a:ext cx="2346960" cy="1600200"/>
          </a:xfrm>
          <a:prstGeom prst="rect">
            <a:avLst/>
          </a:prstGeom>
          <a:solidFill>
            <a:srgbClr val="4352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D375E5-4D20-B177-B9A8-D2C8C4000BDE}"/>
              </a:ext>
            </a:extLst>
          </p:cNvPr>
          <p:cNvSpPr/>
          <p:nvPr/>
        </p:nvSpPr>
        <p:spPr>
          <a:xfrm>
            <a:off x="4719322" y="2834957"/>
            <a:ext cx="2346960" cy="1600200"/>
          </a:xfrm>
          <a:prstGeom prst="rect">
            <a:avLst/>
          </a:prstGeom>
          <a:solidFill>
            <a:srgbClr val="2F47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 up of a welding machine&#10;&#10;AI-generated content may be incorrect.">
            <a:extLst>
              <a:ext uri="{FF2B5EF4-FFF2-40B4-BE49-F238E27FC236}">
                <a16:creationId xmlns:a16="http://schemas.microsoft.com/office/drawing/2014/main" id="{36245D15-24C1-E99B-C19C-842C28A034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06" r="24382" b="2"/>
          <a:stretch/>
        </p:blipFill>
        <p:spPr>
          <a:xfrm>
            <a:off x="1278296" y="1234753"/>
            <a:ext cx="704281" cy="1600200"/>
          </a:xfrm>
          <a:prstGeom prst="rect">
            <a:avLst/>
          </a:prstGeom>
        </p:spPr>
      </p:pic>
      <p:pic>
        <p:nvPicPr>
          <p:cNvPr id="5" name="Picture 4" descr="A circular object with a light shining on it&#10;&#10;AI-generated content may be incorrect.">
            <a:extLst>
              <a:ext uri="{FF2B5EF4-FFF2-40B4-BE49-F238E27FC236}">
                <a16:creationId xmlns:a16="http://schemas.microsoft.com/office/drawing/2014/main" id="{F148F37D-C3E4-F628-2072-2F005DBC1F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02" r="24787" b="2"/>
          <a:stretch/>
        </p:blipFill>
        <p:spPr>
          <a:xfrm rot="10800000">
            <a:off x="4719322" y="1234753"/>
            <a:ext cx="704280" cy="1600200"/>
          </a:xfrm>
          <a:prstGeom prst="rect">
            <a:avLst/>
          </a:prstGeom>
        </p:spPr>
      </p:pic>
      <p:pic>
        <p:nvPicPr>
          <p:cNvPr id="6" name="Picture 5" descr="A cartoon of a spiral cone&#10;&#10;AI-generated content may be incorrect.">
            <a:extLst>
              <a:ext uri="{FF2B5EF4-FFF2-40B4-BE49-F238E27FC236}">
                <a16:creationId xmlns:a16="http://schemas.microsoft.com/office/drawing/2014/main" id="{A2462F33-6E4B-63B6-A768-F8B74A532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55" r="32509" b="2"/>
          <a:stretch/>
        </p:blipFill>
        <p:spPr>
          <a:xfrm>
            <a:off x="4719322" y="2834953"/>
            <a:ext cx="699874" cy="1600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985F512-9DC9-54F6-3D05-0607CB9667F6}"/>
              </a:ext>
            </a:extLst>
          </p:cNvPr>
          <p:cNvSpPr/>
          <p:nvPr/>
        </p:nvSpPr>
        <p:spPr>
          <a:xfrm>
            <a:off x="1278296" y="2834953"/>
            <a:ext cx="2346960" cy="1600200"/>
          </a:xfrm>
          <a:prstGeom prst="rect">
            <a:avLst/>
          </a:prstGeom>
          <a:solidFill>
            <a:srgbClr val="2F47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cartoon of a spiral cone&#10;&#10;AI-generated content may be incorrect.">
            <a:extLst>
              <a:ext uri="{FF2B5EF4-FFF2-40B4-BE49-F238E27FC236}">
                <a16:creationId xmlns:a16="http://schemas.microsoft.com/office/drawing/2014/main" id="{1D1F6AB8-BAC4-0CAC-20EE-9D56F9263C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55" r="32509" b="2"/>
          <a:stretch/>
        </p:blipFill>
        <p:spPr>
          <a:xfrm>
            <a:off x="1278296" y="2834949"/>
            <a:ext cx="699874" cy="16002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CF969CE-28F9-074E-1E03-2E4863EA6D67}"/>
              </a:ext>
            </a:extLst>
          </p:cNvPr>
          <p:cNvSpPr/>
          <p:nvPr/>
        </p:nvSpPr>
        <p:spPr>
          <a:xfrm>
            <a:off x="-1332824" y="1234752"/>
            <a:ext cx="699874" cy="1600200"/>
          </a:xfrm>
          <a:prstGeom prst="rect">
            <a:avLst/>
          </a:prstGeom>
          <a:solidFill>
            <a:srgbClr val="46DC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H 104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1ADB34-1011-ECE5-FFC0-6210537C422F}"/>
              </a:ext>
            </a:extLst>
          </p:cNvPr>
          <p:cNvSpPr/>
          <p:nvPr/>
        </p:nvSpPr>
        <p:spPr>
          <a:xfrm>
            <a:off x="-632950" y="1234752"/>
            <a:ext cx="699874" cy="1600200"/>
          </a:xfrm>
          <a:prstGeom prst="rect">
            <a:avLst/>
          </a:prstGeom>
          <a:solidFill>
            <a:srgbClr val="DC80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 16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B45A2A-6DE9-5571-787B-579F68BA504A}"/>
              </a:ext>
            </a:extLst>
          </p:cNvPr>
          <p:cNvSpPr/>
          <p:nvPr/>
        </p:nvSpPr>
        <p:spPr>
          <a:xfrm>
            <a:off x="66924" y="1234752"/>
            <a:ext cx="699874" cy="1600200"/>
          </a:xfrm>
          <a:prstGeom prst="rect">
            <a:avLst/>
          </a:prstGeom>
          <a:solidFill>
            <a:srgbClr val="465B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 164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50F104-1FD5-0D05-8508-3FF03001D6D7}"/>
              </a:ext>
            </a:extLst>
          </p:cNvPr>
          <p:cNvSpPr/>
          <p:nvPr/>
        </p:nvSpPr>
        <p:spPr>
          <a:xfrm>
            <a:off x="-1332824" y="2916232"/>
            <a:ext cx="699874" cy="1600200"/>
          </a:xfrm>
          <a:prstGeom prst="rect">
            <a:avLst/>
          </a:prstGeom>
          <a:solidFill>
            <a:srgbClr val="2F47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H 104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CA698D-5E23-AAE4-638C-9B1FAEFC3217}"/>
              </a:ext>
            </a:extLst>
          </p:cNvPr>
          <p:cNvSpPr/>
          <p:nvPr/>
        </p:nvSpPr>
        <p:spPr>
          <a:xfrm>
            <a:off x="-632950" y="2916232"/>
            <a:ext cx="699874" cy="1600200"/>
          </a:xfrm>
          <a:prstGeom prst="rect">
            <a:avLst/>
          </a:prstGeom>
          <a:solidFill>
            <a:srgbClr val="47382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 16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928602-B605-1DF9-A19D-1ED3A281FF4F}"/>
              </a:ext>
            </a:extLst>
          </p:cNvPr>
          <p:cNvSpPr/>
          <p:nvPr/>
        </p:nvSpPr>
        <p:spPr>
          <a:xfrm>
            <a:off x="66924" y="2916232"/>
            <a:ext cx="699874" cy="1600200"/>
          </a:xfrm>
          <a:prstGeom prst="rect">
            <a:avLst/>
          </a:prstGeom>
          <a:solidFill>
            <a:srgbClr val="2F32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 164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BCA3DE-F6E0-5A19-C11D-289ED9DFCB05}"/>
              </a:ext>
            </a:extLst>
          </p:cNvPr>
          <p:cNvSpPr/>
          <p:nvPr/>
        </p:nvSpPr>
        <p:spPr>
          <a:xfrm>
            <a:off x="7394315" y="1234752"/>
            <a:ext cx="699874" cy="1600200"/>
          </a:xfrm>
          <a:prstGeom prst="rect">
            <a:avLst/>
          </a:prstGeom>
          <a:solidFill>
            <a:srgbClr val="46DC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H 104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2AC121-0115-DA4A-8FDB-A378FDF77643}"/>
              </a:ext>
            </a:extLst>
          </p:cNvPr>
          <p:cNvSpPr/>
          <p:nvPr/>
        </p:nvSpPr>
        <p:spPr>
          <a:xfrm>
            <a:off x="8094189" y="1234752"/>
            <a:ext cx="699874" cy="1600200"/>
          </a:xfrm>
          <a:prstGeom prst="rect">
            <a:avLst/>
          </a:prstGeom>
          <a:solidFill>
            <a:srgbClr val="DC7F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 16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85436B-4408-DC6F-223A-AFA8726ADA39}"/>
              </a:ext>
            </a:extLst>
          </p:cNvPr>
          <p:cNvSpPr/>
          <p:nvPr/>
        </p:nvSpPr>
        <p:spPr>
          <a:xfrm>
            <a:off x="8794063" y="1234752"/>
            <a:ext cx="699874" cy="1600200"/>
          </a:xfrm>
          <a:prstGeom prst="rect">
            <a:avLst/>
          </a:prstGeom>
          <a:solidFill>
            <a:srgbClr val="465B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 164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306E79-FB2D-6482-B378-7EB9D4011307}"/>
              </a:ext>
            </a:extLst>
          </p:cNvPr>
          <p:cNvSpPr/>
          <p:nvPr/>
        </p:nvSpPr>
        <p:spPr>
          <a:xfrm>
            <a:off x="7394315" y="2834949"/>
            <a:ext cx="699874" cy="1600200"/>
          </a:xfrm>
          <a:prstGeom prst="rect">
            <a:avLst/>
          </a:prstGeom>
          <a:solidFill>
            <a:srgbClr val="24C2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H 104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62B951-AA07-23FD-229F-1E71872148E6}"/>
              </a:ext>
            </a:extLst>
          </p:cNvPr>
          <p:cNvSpPr/>
          <p:nvPr/>
        </p:nvSpPr>
        <p:spPr>
          <a:xfrm>
            <a:off x="8094189" y="2834949"/>
            <a:ext cx="699874" cy="1600200"/>
          </a:xfrm>
          <a:prstGeom prst="rect">
            <a:avLst/>
          </a:prstGeom>
          <a:solidFill>
            <a:srgbClr val="8743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 16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B40776-7154-C369-260A-86B3E45F2619}"/>
              </a:ext>
            </a:extLst>
          </p:cNvPr>
          <p:cNvSpPr/>
          <p:nvPr/>
        </p:nvSpPr>
        <p:spPr>
          <a:xfrm>
            <a:off x="8794063" y="2834949"/>
            <a:ext cx="699874" cy="1600200"/>
          </a:xfrm>
          <a:prstGeom prst="rect">
            <a:avLst/>
          </a:prstGeom>
          <a:solidFill>
            <a:srgbClr val="1929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 164</a:t>
            </a:r>
          </a:p>
        </p:txBody>
      </p:sp>
    </p:spTree>
    <p:extLst>
      <p:ext uri="{BB962C8B-B14F-4D97-AF65-F5344CB8AC3E}">
        <p14:creationId xmlns:p14="http://schemas.microsoft.com/office/powerpoint/2010/main" val="2840158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3C66F-78DF-1F7E-EE97-E02694C67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1186C2-8D69-CF91-4F0E-FE6B7C2EF137}"/>
              </a:ext>
            </a:extLst>
          </p:cNvPr>
          <p:cNvSpPr/>
          <p:nvPr/>
        </p:nvSpPr>
        <p:spPr>
          <a:xfrm>
            <a:off x="8866464" y="228582"/>
            <a:ext cx="1647086" cy="1600200"/>
          </a:xfrm>
          <a:prstGeom prst="rect">
            <a:avLst/>
          </a:prstGeom>
          <a:gradFill>
            <a:gsLst>
              <a:gs pos="5000">
                <a:schemeClr val="tx1"/>
              </a:gs>
              <a:gs pos="60000">
                <a:srgbClr val="384590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Explore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with Drone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Spaces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3461A-E53A-794F-1BDC-961E369D7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2" y="228600"/>
            <a:ext cx="234696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9C9FA0-A098-5D2C-BCA2-F8C68D80D757}"/>
              </a:ext>
            </a:extLst>
          </p:cNvPr>
          <p:cNvSpPr/>
          <p:nvPr/>
        </p:nvSpPr>
        <p:spPr>
          <a:xfrm>
            <a:off x="977410" y="228595"/>
            <a:ext cx="1651492" cy="1600200"/>
          </a:xfrm>
          <a:prstGeom prst="rect">
            <a:avLst/>
          </a:prstGeom>
          <a:gradFill flip="none" rotWithShape="1">
            <a:gsLst>
              <a:gs pos="5000">
                <a:srgbClr val="061922"/>
              </a:gs>
              <a:gs pos="60000">
                <a:srgbClr val="C0612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Build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2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Bridge Sections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7BC93C-2AD3-4492-2E09-601646B8DDE8}"/>
              </a:ext>
            </a:extLst>
          </p:cNvPr>
          <p:cNvSpPr/>
          <p:nvPr/>
        </p:nvSpPr>
        <p:spPr>
          <a:xfrm>
            <a:off x="8866464" y="1828784"/>
            <a:ext cx="1647086" cy="1600200"/>
          </a:xfrm>
          <a:prstGeom prst="rect">
            <a:avLst/>
          </a:prstGeom>
          <a:gradFill>
            <a:gsLst>
              <a:gs pos="5000">
                <a:schemeClr val="tx1"/>
              </a:gs>
              <a:gs pos="60000">
                <a:srgbClr val="2F473A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Move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Crawler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3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Spaces</a:t>
            </a:r>
          </a:p>
        </p:txBody>
      </p:sp>
      <p:pic>
        <p:nvPicPr>
          <p:cNvPr id="4" name="Picture 3" descr="A close up of a welding machine&#10;&#10;AI-generated content may be incorrect.">
            <a:extLst>
              <a:ext uri="{FF2B5EF4-FFF2-40B4-BE49-F238E27FC236}">
                <a16:creationId xmlns:a16="http://schemas.microsoft.com/office/drawing/2014/main" id="{7D4975F9-3E4F-CF27-0C31-F074DDBAE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06" r="24382" b="2"/>
          <a:stretch/>
        </p:blipFill>
        <p:spPr>
          <a:xfrm>
            <a:off x="277536" y="228595"/>
            <a:ext cx="704281" cy="1600200"/>
          </a:xfrm>
          <a:prstGeom prst="rect">
            <a:avLst/>
          </a:prstGeom>
        </p:spPr>
      </p:pic>
      <p:pic>
        <p:nvPicPr>
          <p:cNvPr id="5" name="Picture 4" descr="A circular object with a light shining on it&#10;&#10;AI-generated content may be incorrect.">
            <a:extLst>
              <a:ext uri="{FF2B5EF4-FFF2-40B4-BE49-F238E27FC236}">
                <a16:creationId xmlns:a16="http://schemas.microsoft.com/office/drawing/2014/main" id="{4A158534-C193-1ECC-586E-EDB49EB81E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02" r="24787" b="2"/>
          <a:stretch/>
        </p:blipFill>
        <p:spPr>
          <a:xfrm rot="10800000">
            <a:off x="8166590" y="228580"/>
            <a:ext cx="704280" cy="1600200"/>
          </a:xfrm>
          <a:prstGeom prst="rect">
            <a:avLst/>
          </a:prstGeom>
        </p:spPr>
      </p:pic>
      <p:pic>
        <p:nvPicPr>
          <p:cNvPr id="6" name="Picture 5" descr="A cartoon of a spiral cone&#10;&#10;AI-generated content may be incorrect.">
            <a:extLst>
              <a:ext uri="{FF2B5EF4-FFF2-40B4-BE49-F238E27FC236}">
                <a16:creationId xmlns:a16="http://schemas.microsoft.com/office/drawing/2014/main" id="{E09DF8C5-82FB-A75A-1B80-BC000CBB62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55" r="32509" b="2"/>
          <a:stretch/>
        </p:blipFill>
        <p:spPr>
          <a:xfrm>
            <a:off x="8166590" y="1828780"/>
            <a:ext cx="699874" cy="1600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2C49D8E-695F-7D75-F97D-0FDF3B817626}"/>
              </a:ext>
            </a:extLst>
          </p:cNvPr>
          <p:cNvSpPr/>
          <p:nvPr/>
        </p:nvSpPr>
        <p:spPr>
          <a:xfrm>
            <a:off x="977410" y="1828795"/>
            <a:ext cx="1647086" cy="1600200"/>
          </a:xfrm>
          <a:prstGeom prst="rect">
            <a:avLst/>
          </a:prstGeom>
          <a:gradFill>
            <a:gsLst>
              <a:gs pos="5000">
                <a:schemeClr val="tx1"/>
              </a:gs>
              <a:gs pos="60000">
                <a:srgbClr val="2F473A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Move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Crawler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Space</a:t>
            </a:r>
          </a:p>
        </p:txBody>
      </p:sp>
      <p:pic>
        <p:nvPicPr>
          <p:cNvPr id="12" name="Picture 11" descr="A cartoon of a spiral cone&#10;&#10;AI-generated content may be incorrect.">
            <a:extLst>
              <a:ext uri="{FF2B5EF4-FFF2-40B4-BE49-F238E27FC236}">
                <a16:creationId xmlns:a16="http://schemas.microsoft.com/office/drawing/2014/main" id="{D982C43C-9266-E4FF-029C-53AA1068A4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55" r="32509" b="2"/>
          <a:stretch/>
        </p:blipFill>
        <p:spPr>
          <a:xfrm>
            <a:off x="277536" y="1828791"/>
            <a:ext cx="699874" cy="160020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959F08E1-9B57-B363-D5E6-A4405FD8D0AE}"/>
              </a:ext>
            </a:extLst>
          </p:cNvPr>
          <p:cNvSpPr/>
          <p:nvPr/>
        </p:nvSpPr>
        <p:spPr>
          <a:xfrm>
            <a:off x="-3478878" y="1392229"/>
            <a:ext cx="2346960" cy="1600200"/>
          </a:xfrm>
          <a:prstGeom prst="rect">
            <a:avLst/>
          </a:prstGeom>
          <a:solidFill>
            <a:srgbClr val="C061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D93F15-B068-34E2-AC9F-3DAAB71E3558}"/>
              </a:ext>
            </a:extLst>
          </p:cNvPr>
          <p:cNvSpPr/>
          <p:nvPr/>
        </p:nvSpPr>
        <p:spPr>
          <a:xfrm>
            <a:off x="-3478878" y="2992429"/>
            <a:ext cx="2346960" cy="1600200"/>
          </a:xfrm>
          <a:prstGeom prst="rect">
            <a:avLst/>
          </a:prstGeom>
          <a:solidFill>
            <a:srgbClr val="2F47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8ED4D7-A84F-05E0-7FC9-D3D18A460513}"/>
              </a:ext>
            </a:extLst>
          </p:cNvPr>
          <p:cNvSpPr/>
          <p:nvPr/>
        </p:nvSpPr>
        <p:spPr>
          <a:xfrm>
            <a:off x="-3483285" y="4592629"/>
            <a:ext cx="2346960" cy="1600200"/>
          </a:xfrm>
          <a:prstGeom prst="rect">
            <a:avLst/>
          </a:prstGeom>
          <a:solidFill>
            <a:srgbClr val="3845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DB128CF-F6BD-E8D8-B2BE-392D6D5CABB6}"/>
              </a:ext>
            </a:extLst>
          </p:cNvPr>
          <p:cNvSpPr/>
          <p:nvPr/>
        </p:nvSpPr>
        <p:spPr>
          <a:xfrm>
            <a:off x="980561" y="3428982"/>
            <a:ext cx="1647086" cy="1600200"/>
          </a:xfrm>
          <a:prstGeom prst="rect">
            <a:avLst/>
          </a:prstGeom>
          <a:gradFill>
            <a:gsLst>
              <a:gs pos="5000">
                <a:schemeClr val="tx1"/>
              </a:gs>
              <a:gs pos="60000">
                <a:srgbClr val="384590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Explore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with Drone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Spaces</a:t>
            </a:r>
          </a:p>
        </p:txBody>
      </p:sp>
      <p:pic>
        <p:nvPicPr>
          <p:cNvPr id="43" name="Picture 42" descr="A circular object with a light shining on it&#10;&#10;AI-generated content may be incorrect.">
            <a:extLst>
              <a:ext uri="{FF2B5EF4-FFF2-40B4-BE49-F238E27FC236}">
                <a16:creationId xmlns:a16="http://schemas.microsoft.com/office/drawing/2014/main" id="{DC282556-B56E-C5DC-67CC-7753450931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02" r="24787" b="2"/>
          <a:stretch/>
        </p:blipFill>
        <p:spPr>
          <a:xfrm rot="10800000">
            <a:off x="280687" y="3428980"/>
            <a:ext cx="704280" cy="16002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28BAE18-1EA6-B627-7569-EFE5EBA50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9075" y="228598"/>
            <a:ext cx="234696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66DE14E7-59F7-9535-1109-6A30E340C92B}"/>
              </a:ext>
            </a:extLst>
          </p:cNvPr>
          <p:cNvSpPr/>
          <p:nvPr/>
        </p:nvSpPr>
        <p:spPr>
          <a:xfrm>
            <a:off x="4274543" y="228593"/>
            <a:ext cx="1651492" cy="1600200"/>
          </a:xfrm>
          <a:prstGeom prst="rect">
            <a:avLst/>
          </a:prstGeom>
          <a:gradFill flip="none" rotWithShape="1">
            <a:gsLst>
              <a:gs pos="5000">
                <a:srgbClr val="061922"/>
              </a:gs>
              <a:gs pos="60000">
                <a:srgbClr val="C0612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Build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2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Bridge Sections</a:t>
            </a:r>
          </a:p>
        </p:txBody>
      </p:sp>
      <p:pic>
        <p:nvPicPr>
          <p:cNvPr id="46" name="Picture 45" descr="A close up of a welding machine&#10;&#10;AI-generated content may be incorrect.">
            <a:extLst>
              <a:ext uri="{FF2B5EF4-FFF2-40B4-BE49-F238E27FC236}">
                <a16:creationId xmlns:a16="http://schemas.microsoft.com/office/drawing/2014/main" id="{89C09A81-BC46-EF32-D3FF-2A86CD1D0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78" r="21652" b="2"/>
          <a:stretch/>
        </p:blipFill>
        <p:spPr>
          <a:xfrm>
            <a:off x="3563496" y="228600"/>
            <a:ext cx="791618" cy="16002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3DA664D4-3669-EFAD-E621-98271CFD514E}"/>
              </a:ext>
            </a:extLst>
          </p:cNvPr>
          <p:cNvSpPr/>
          <p:nvPr/>
        </p:nvSpPr>
        <p:spPr>
          <a:xfrm>
            <a:off x="4274543" y="1828793"/>
            <a:ext cx="1647086" cy="1600200"/>
          </a:xfrm>
          <a:prstGeom prst="rect">
            <a:avLst/>
          </a:prstGeom>
          <a:gradFill>
            <a:gsLst>
              <a:gs pos="5000">
                <a:schemeClr val="tx1"/>
              </a:gs>
              <a:gs pos="60000">
                <a:srgbClr val="2F473A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Move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Crawler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Space</a:t>
            </a:r>
          </a:p>
        </p:txBody>
      </p:sp>
      <p:pic>
        <p:nvPicPr>
          <p:cNvPr id="48" name="Picture 47" descr="A cartoon of a spiral cone&#10;&#10;AI-generated content may be incorrect.">
            <a:extLst>
              <a:ext uri="{FF2B5EF4-FFF2-40B4-BE49-F238E27FC236}">
                <a16:creationId xmlns:a16="http://schemas.microsoft.com/office/drawing/2014/main" id="{57C3CF79-6B8E-EA50-D2BE-A846AEABC7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25" r="29781" b="2"/>
          <a:stretch/>
        </p:blipFill>
        <p:spPr>
          <a:xfrm>
            <a:off x="3563496" y="1828796"/>
            <a:ext cx="787210" cy="160020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13265DE5-EA49-E482-F274-6E713FC0511C}"/>
              </a:ext>
            </a:extLst>
          </p:cNvPr>
          <p:cNvSpPr/>
          <p:nvPr/>
        </p:nvSpPr>
        <p:spPr>
          <a:xfrm>
            <a:off x="4277694" y="3428980"/>
            <a:ext cx="1647086" cy="1600200"/>
          </a:xfrm>
          <a:prstGeom prst="rect">
            <a:avLst/>
          </a:prstGeom>
          <a:gradFill>
            <a:gsLst>
              <a:gs pos="5000">
                <a:schemeClr val="tx1"/>
              </a:gs>
              <a:gs pos="60000">
                <a:srgbClr val="384590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Explore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with Drone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Spaces</a:t>
            </a:r>
          </a:p>
        </p:txBody>
      </p:sp>
      <p:pic>
        <p:nvPicPr>
          <p:cNvPr id="50" name="Picture 49" descr="A circular object with a light shining on it&#10;&#10;AI-generated content may be incorrect.">
            <a:extLst>
              <a:ext uri="{FF2B5EF4-FFF2-40B4-BE49-F238E27FC236}">
                <a16:creationId xmlns:a16="http://schemas.microsoft.com/office/drawing/2014/main" id="{339CF53E-5DAD-E026-0261-05C1966FCB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77" r="21861" b="2"/>
          <a:stretch/>
        </p:blipFill>
        <p:spPr>
          <a:xfrm rot="10800000">
            <a:off x="3563496" y="3428985"/>
            <a:ext cx="797918" cy="1600200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18D2DDFC-53F9-FCEE-9D60-9047BAE5C2E6}"/>
              </a:ext>
            </a:extLst>
          </p:cNvPr>
          <p:cNvGrpSpPr/>
          <p:nvPr/>
        </p:nvGrpSpPr>
        <p:grpSpPr>
          <a:xfrm>
            <a:off x="7191708" y="3112057"/>
            <a:ext cx="2335575" cy="3200400"/>
            <a:chOff x="-2769087" y="1828780"/>
            <a:chExt cx="2335575" cy="320040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B3BD8BFC-1943-2FCA-46FB-4A7F40AA1D05}"/>
                </a:ext>
              </a:extLst>
            </p:cNvPr>
            <p:cNvSpPr/>
            <p:nvPr/>
          </p:nvSpPr>
          <p:spPr>
            <a:xfrm>
              <a:off x="-2664148" y="1927494"/>
              <a:ext cx="2129016" cy="3002972"/>
            </a:xfrm>
            <a:prstGeom prst="roundRect">
              <a:avLst>
                <a:gd name="adj" fmla="val 4954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849062E-DFC4-2D86-4E8E-2839DACC8747}"/>
                </a:ext>
              </a:extLst>
            </p:cNvPr>
            <p:cNvSpPr/>
            <p:nvPr/>
          </p:nvSpPr>
          <p:spPr>
            <a:xfrm>
              <a:off x="-2769087" y="1828780"/>
              <a:ext cx="2335575" cy="320040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1451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1887</TotalTime>
  <Words>329</Words>
  <Application>Microsoft Office PowerPoint</Application>
  <PresentationFormat>Letter Paper (8.5x11 in)</PresentationFormat>
  <Paragraphs>150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Stan McBride</dc:creator>
  <cp:lastModifiedBy>Stan McBride</cp:lastModifiedBy>
  <cp:revision>1</cp:revision>
  <cp:lastPrinted>2025-01-20T15:27:03Z</cp:lastPrinted>
  <dcterms:created xsi:type="dcterms:W3CDTF">2025-01-18T14:39:21Z</dcterms:created>
  <dcterms:modified xsi:type="dcterms:W3CDTF">2026-09-07T21:37:26Z</dcterms:modified>
</cp:coreProperties>
</file>